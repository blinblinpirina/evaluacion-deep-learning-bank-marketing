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91986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Presentamos un MLP para predecir si un cliente de un banco portugués contratará un depósito a plazo, con el dataset Bank Marketing. Veremos qué hicimos, qué resultados obtuvimos y cuánto mejoró realmente el modelo.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dataset tiene 45.211 clientes y 16 variables, y solo el 11,7 % contrata. Un modelo que responda siempre «no» acierta 88,3 %, así que priorizamos Precision, Recall y F1 de la clase «yes». Dividimos 60, 20 y 20, estratificado, y ajustamos el preprocesador solo con entrenamiento. Estandarizamos las numéricas y aplicamos one-hot a las categóricas: quedan 50 variables. Para el desbalance usamos pesos de clase. Y excluimos «duration», porque solo se conoce al terminar la llamada: con ella el F1 sube de 0,452 a 0,599, pero es una mejora irreal.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modelo base tiene dos capas ocultas, de 64 y 32 neuronas, con ReLU, y una salida sigmoide que entrega una probabilidad. Usamos entropía cruzada binaria, Adam con tasa 0,001, batch 256 y 20 épocas con EarlyStopping. El gráfico justifica las funciones: sigmoide y tanh se saturan y atenúan el gradiente, ReLU mantiene derivada 1; y cuando el modelo se equivoca, el gradiente de la entropía cruzada se mantiene, pero el del error cuadrático se anula.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experimento cambia un solo elemento respecto del base. ReLU obtuvo el mejor F1, 0,452, frente a 0,416 de tanh y 0,383 de sigmoide; además, tanh y sigmoide tocan su mínimo de validación en las épocas 3 y 6, mientras ReLU sigue mejorando. En pérdida, entropía cruzada y MSE dieron lo mismo; mantuvimos la entropía cruzada por ser la coherente con una salida probabilística.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mejor tasa de aprendizaje fue 0,001: con 0,01 la validación toca su mínimo en la primera época, y con 0,0001 no converge en 20 épocas. En batch, épocas y capas el F1 a 0,5 cambia, pero el F1 óptimo se mantiene entre 0,47 y 0,49: esos parámetros alteran la calibración, no la capacidad de discriminar. Y una red más grande no mejora.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Probamos Dropout, BatchNorm, L2 y su combinación. Ninguna mejoró de forma relevante: el mejor F1 fue 0,459 con L2, contra 0,452 del base, y BatchNorm y la combinación lo bajaron. La razón es que el base no sobreajusta: su pérdida de validación sigue bajando en la época 20. Hay poco que regularizar, y lo reportamos así.</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Hicimos una grilla de 12 combinaciones; ganó tasa 0,001, batch 64, dropout 0,3 y capas 128-64-32. Para saber si la mejora es real, repetimos base y ajustado con 5 semillas. A umbral 0,5 el F1 sube de 0,410 a 0,433, más que la desviación entre semillas. Pero en F1 óptimo y ROC-AUC la diferencia es comparable al ruido: la mejora es moderada.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Subir el umbral aumenta la Precision y baja el Recall. Lo elegimos solo con validación, 0,61 para el modelo final, y lo fijamos antes de mirar prueba. El efecto es grande: solo calibrar el umbral del base sube su F1 en prueba de 0,449 a 0,473.</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Evaluamos una sola vez en prueba. El modelo final obtiene accuracy 0,869, Precision 0,446, Recall 0,508, F1 0,475 y ROC-AUC 0,789. De cada 100 clientes a quienes se llama, unos 45 contratan, 3,8 veces la tasa base. El accuracy es menor que el 0,883 del clasificador trivial, por eso no es el criterio. Frente al base calibrado, el F1 es 0,473 contra 0,475: la mejora es marginal, y lo decimos así.</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concluir: ReLU, entropía cruzada y tasa 0,001 fueron las mejores decisiones; la regularización no aportó porque el base no sobreajusta; el ajuste mejora la Precision pero apenas la discriminación; y la palanca más efectiva fue el umbral. Como mejoras: nuevas variables, focal loss o SMOTE y validación cruzada. Muchas gracias; quedamos atentos a sus preguntas.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ULO">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txBody>
          <a:bodyPr/>
          <a:lstStyle/>
          <a:p>
            <a:endParaRPr lang="es-MX"/>
          </a:p>
        </p:txBody>
      </p:sp>
      <p:sp>
        <p:nvSpPr>
          <p:cNvPr id="3" name="Text 1"/>
          <p:cNvSpPr>
            <a:spLocks noGrp="1"/>
          </p:cNvSpPr>
          <p:nvPr>
            <p:ph type="title" idx="101" hasCustomPrompt="1"/>
          </p:nvPr>
        </p:nvSpPr>
        <p:spPr>
          <a:xfrm>
            <a:off x="640080" y="1234440"/>
            <a:ext cx="7863840" cy="1371600"/>
          </a:xfrm>
          <a:prstGeom prst="rect">
            <a:avLst/>
          </a:prstGeom>
          <a:noFill/>
          <a:ln/>
        </p:spPr>
        <p:txBody>
          <a:bodyPr wrap="square" rtlCol="0"/>
          <a:lstStyle>
            <a:lvl1pPr marL="0" indent="0" algn="l">
              <a:buNone/>
              <a:defRPr lang="en-US" sz="3800" b="1" dirty="0">
                <a:solidFill>
                  <a:schemeClr val="bg1"/>
                </a:solidFill>
              </a:defRPr>
            </a:lvl1pPr>
          </a:lstStyle>
          <a:p>
            <a:pPr marL="0" indent="0" algn="l">
              <a:buNone/>
            </a:pPr>
            <a:endParaRPr lang="en-US" sz="3800" dirty="0"/>
          </a:p>
        </p:txBody>
      </p:sp>
      <p:sp>
        <p:nvSpPr>
          <p:cNvPr id="4" name="Text 1"/>
          <p:cNvSpPr>
            <a:spLocks noGrp="1"/>
          </p:cNvSpPr>
          <p:nvPr>
            <p:ph type="body" idx="102" hasCustomPrompt="1"/>
          </p:nvPr>
        </p:nvSpPr>
        <p:spPr>
          <a:xfrm>
            <a:off x="640080" y="2743200"/>
            <a:ext cx="7863840" cy="731520"/>
          </a:xfrm>
          <a:prstGeom prst="rect">
            <a:avLst/>
          </a:prstGeom>
          <a:noFill/>
          <a:ln/>
        </p:spPr>
        <p:txBody>
          <a:bodyPr wrap="square" rtlCol="0"/>
          <a:lstStyle>
            <a:lvl1pPr marL="0" indent="0">
              <a:buNone/>
              <a:defRPr lang="en-US" sz="1800" dirty="0">
                <a:solidFill>
                  <a:schemeClr val="bg2"/>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94360"/>
          </a:xfrm>
          <a:prstGeom prst="rect">
            <a:avLst/>
          </a:prstGeom>
          <a:noFill/>
          <a:ln/>
        </p:spPr>
        <p:txBody>
          <a:bodyPr wrap="square" rtlCol="0"/>
          <a:lstStyle>
            <a:lvl1pPr marL="0" indent="0" algn="l">
              <a:buNone/>
              <a:defRPr lang="en-US" sz="2800" b="1" dirty="0">
                <a:solidFill>
                  <a:schemeClr val="tx1"/>
                </a:solidFill>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B6C"/>
                </a:solidFill>
              </a:defRPr>
            </a:lvl1pPr>
          </a:lstStyle>
          <a:p>
            <a:pPr algn="l"/>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IERRE">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a:spLocks noGrp="1"/>
          </p:cNvSpPr>
          <p:nvPr>
            <p:ph type="title" idx="101" hasCustomPrompt="1"/>
          </p:nvPr>
        </p:nvSpPr>
        <p:spPr>
          <a:xfrm>
            <a:off x="457200" y="274320"/>
            <a:ext cx="8229600" cy="594360"/>
          </a:xfrm>
          <a:prstGeom prst="rect">
            <a:avLst/>
          </a:prstGeom>
          <a:noFill/>
          <a:ln/>
        </p:spPr>
        <p:txBody>
          <a:bodyPr wrap="square" rtlCol="0"/>
          <a:lstStyle>
            <a:lvl1pPr marL="0" indent="0" algn="l">
              <a:buNone/>
              <a:defRPr lang="en-US" sz="2800" b="1" dirty="0">
                <a:solidFill>
                  <a:schemeClr val="bg1"/>
                </a:solidFill>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EEF3F7"/>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B6C"/>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640080" y="1234440"/>
            <a:ext cx="7863840" cy="1371600"/>
          </a:xfrm>
          <a:prstGeom prst="rect">
            <a:avLst/>
          </a:prstGeom>
          <a:noFill/>
          <a:ln/>
        </p:spPr>
        <p:txBody>
          <a:bodyPr wrap="square" lIns="0" tIns="0" rIns="0" bIns="0" rtlCol="0" anchor="t"/>
          <a:lstStyle/>
          <a:p>
            <a:pPr marL="0" indent="0" algn="l">
              <a:buNone/>
            </a:pPr>
            <a:r>
              <a:rPr lang="en-US" sz="3800" b="1" dirty="0">
                <a:solidFill>
                  <a:schemeClr val="bg1"/>
                </a:solidFill>
              </a:rPr>
              <a:t>Clasificación de clientes con una red neuronal MLP</a:t>
            </a:r>
            <a:endParaRPr lang="en-US" sz="3800" dirty="0"/>
          </a:p>
        </p:txBody>
      </p:sp>
      <p:sp>
        <p:nvSpPr>
          <p:cNvPr id="3" name="Text 1"/>
          <p:cNvSpPr>
            <a:spLocks noGrp="1"/>
          </p:cNvSpPr>
          <p:nvPr>
            <p:ph type="body" idx="102" hasCustomPrompt="1"/>
          </p:nvPr>
        </p:nvSpPr>
        <p:spPr>
          <a:xfrm>
            <a:off x="640080" y="2743200"/>
            <a:ext cx="7863840" cy="731520"/>
          </a:xfrm>
          <a:prstGeom prst="rect">
            <a:avLst/>
          </a:prstGeom>
          <a:noFill/>
          <a:ln/>
        </p:spPr>
        <p:txBody>
          <a:bodyPr wrap="square" lIns="0" tIns="0" rIns="0" bIns="0" rtlCol="0" anchor="t"/>
          <a:lstStyle/>
          <a:p>
            <a:pPr marL="0" indent="0">
              <a:buNone/>
            </a:pPr>
            <a:r>
              <a:rPr lang="en-US" sz="1800" dirty="0" err="1">
                <a:solidFill>
                  <a:schemeClr val="bg2"/>
                </a:solidFill>
              </a:rPr>
              <a:t>Predicción</a:t>
            </a:r>
            <a:r>
              <a:rPr lang="en-US" sz="1800" dirty="0">
                <a:solidFill>
                  <a:schemeClr val="bg2"/>
                </a:solidFill>
              </a:rPr>
              <a:t> de </a:t>
            </a:r>
            <a:r>
              <a:rPr lang="en-US" sz="1800" dirty="0" err="1">
                <a:solidFill>
                  <a:schemeClr val="bg2"/>
                </a:solidFill>
              </a:rPr>
              <a:t>contratación</a:t>
            </a:r>
            <a:r>
              <a:rPr lang="en-US" sz="1800" dirty="0">
                <a:solidFill>
                  <a:schemeClr val="bg2"/>
                </a:solidFill>
              </a:rPr>
              <a:t> de depósito a plazo · Bank Marketing (UCI)</a:t>
            </a:r>
            <a:endParaRPr lang="en-US" sz="1800" dirty="0"/>
          </a:p>
          <a:p>
            <a:pPr marL="0" indent="0">
              <a:buNone/>
            </a:pPr>
            <a:r>
              <a:rPr lang="en-US" sz="1800" dirty="0">
                <a:solidFill>
                  <a:schemeClr val="bg2"/>
                </a:solidFill>
              </a:rPr>
              <a:t>DLY0100 Deep Learning · Evaluación Parcial N.º 1</a:t>
            </a:r>
            <a:endParaRPr lang="en-US" sz="1800" dirty="0"/>
          </a:p>
          <a:p>
            <a:pPr marL="0" indent="0">
              <a:buNone/>
            </a:pPr>
            <a:r>
              <a:rPr lang="en-US" sz="1800" dirty="0">
                <a:solidFill>
                  <a:schemeClr val="bg2"/>
                </a:solidFill>
              </a:rPr>
              <a:t>Tomás Benjamín Suárez Alvarado</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Datos y preprocesamiento</a:t>
            </a:r>
            <a:endParaRPr lang="en-US" sz="2800" dirty="0"/>
          </a:p>
        </p:txBody>
      </p:sp>
      <p:sp>
        <p:nvSpPr>
          <p:cNvPr id="3" name="Shape 1"/>
          <p:cNvSpPr/>
          <p:nvPr/>
        </p:nvSpPr>
        <p:spPr>
          <a:xfrm>
            <a:off x="457200" y="1005840"/>
            <a:ext cx="2560320" cy="731520"/>
          </a:xfrm>
          <a:prstGeom prst="roundRect">
            <a:avLst>
              <a:gd name="adj" fmla="val 10000"/>
            </a:avLst>
          </a:prstGeom>
          <a:solidFill>
            <a:schemeClr val="bg2"/>
          </a:solidFill>
          <a:ln w="12700">
            <a:solidFill>
              <a:schemeClr val="bg2"/>
            </a:solidFill>
            <a:prstDash val="solid"/>
          </a:ln>
        </p:spPr>
        <p:txBody>
          <a:bodyPr/>
          <a:lstStyle/>
          <a:p>
            <a:endParaRPr lang="es-MX"/>
          </a:p>
        </p:txBody>
      </p:sp>
      <p:sp>
        <p:nvSpPr>
          <p:cNvPr id="4" name="Text 2"/>
          <p:cNvSpPr txBox="1"/>
          <p:nvPr/>
        </p:nvSpPr>
        <p:spPr>
          <a:xfrm>
            <a:off x="594360" y="1005840"/>
            <a:ext cx="1325880" cy="731520"/>
          </a:xfrm>
          <a:prstGeom prst="rect">
            <a:avLst/>
          </a:prstGeom>
          <a:noFill/>
          <a:ln/>
        </p:spPr>
        <p:txBody>
          <a:bodyPr wrap="square" lIns="0" tIns="0" rIns="0" bIns="0" rtlCol="0" anchor="ctr"/>
          <a:lstStyle/>
          <a:p>
            <a:pPr marL="0" indent="0">
              <a:buNone/>
            </a:pPr>
            <a:r>
              <a:rPr lang="en-US" sz="2600" b="1" dirty="0">
                <a:solidFill>
                  <a:schemeClr val="accent1"/>
                </a:solidFill>
                <a:latin typeface="Cambria" pitchFamily="34" charset="0"/>
                <a:ea typeface="Cambria" pitchFamily="34" charset="-122"/>
                <a:cs typeface="Cambria" pitchFamily="34" charset="-120"/>
              </a:rPr>
              <a:t>45.211</a:t>
            </a:r>
            <a:endParaRPr lang="en-US" sz="2600" dirty="0"/>
          </a:p>
        </p:txBody>
      </p:sp>
      <p:sp>
        <p:nvSpPr>
          <p:cNvPr id="5" name="Text 3"/>
          <p:cNvSpPr txBox="1"/>
          <p:nvPr/>
        </p:nvSpPr>
        <p:spPr>
          <a:xfrm>
            <a:off x="1874520" y="1005840"/>
            <a:ext cx="1097280" cy="731520"/>
          </a:xfrm>
          <a:prstGeom prst="rect">
            <a:avLst/>
          </a:prstGeom>
          <a:noFill/>
          <a:ln/>
        </p:spPr>
        <p:txBody>
          <a:bodyPr wrap="square" lIns="0" tIns="0" rIns="0" bIns="0" rtlCol="0" anchor="ctr"/>
          <a:lstStyle/>
          <a:p>
            <a:pPr marL="0" indent="0">
              <a:buNone/>
            </a:pPr>
            <a:r>
              <a:rPr lang="en-US" sz="1400" dirty="0">
                <a:solidFill>
                  <a:schemeClr val="tx1"/>
                </a:solidFill>
              </a:rPr>
              <a:t>clientes</a:t>
            </a:r>
            <a:endParaRPr lang="en-US" sz="1400" dirty="0"/>
          </a:p>
        </p:txBody>
      </p:sp>
      <p:sp>
        <p:nvSpPr>
          <p:cNvPr id="6" name="Shape 4"/>
          <p:cNvSpPr/>
          <p:nvPr/>
        </p:nvSpPr>
        <p:spPr>
          <a:xfrm>
            <a:off x="3291840" y="1005840"/>
            <a:ext cx="2560320" cy="731520"/>
          </a:xfrm>
          <a:prstGeom prst="roundRect">
            <a:avLst>
              <a:gd name="adj" fmla="val 10000"/>
            </a:avLst>
          </a:prstGeom>
          <a:solidFill>
            <a:schemeClr val="bg2"/>
          </a:solidFill>
          <a:ln w="12700">
            <a:solidFill>
              <a:schemeClr val="bg2"/>
            </a:solidFill>
            <a:prstDash val="solid"/>
          </a:ln>
        </p:spPr>
        <p:txBody>
          <a:bodyPr/>
          <a:lstStyle/>
          <a:p>
            <a:endParaRPr lang="es-MX"/>
          </a:p>
        </p:txBody>
      </p:sp>
      <p:sp>
        <p:nvSpPr>
          <p:cNvPr id="7" name="Text 5"/>
          <p:cNvSpPr txBox="1"/>
          <p:nvPr/>
        </p:nvSpPr>
        <p:spPr>
          <a:xfrm>
            <a:off x="3429000" y="1005840"/>
            <a:ext cx="1325880" cy="731520"/>
          </a:xfrm>
          <a:prstGeom prst="rect">
            <a:avLst/>
          </a:prstGeom>
          <a:noFill/>
          <a:ln/>
        </p:spPr>
        <p:txBody>
          <a:bodyPr wrap="square" lIns="0" tIns="0" rIns="0" bIns="0" rtlCol="0" anchor="ctr"/>
          <a:lstStyle/>
          <a:p>
            <a:pPr marL="0" indent="0">
              <a:buNone/>
            </a:pPr>
            <a:r>
              <a:rPr lang="en-US" sz="2600" b="1" dirty="0">
                <a:solidFill>
                  <a:schemeClr val="accent1"/>
                </a:solidFill>
                <a:latin typeface="Cambria" pitchFamily="34" charset="0"/>
                <a:ea typeface="Cambria" pitchFamily="34" charset="-122"/>
                <a:cs typeface="Cambria" pitchFamily="34" charset="-120"/>
              </a:rPr>
              <a:t>16</a:t>
            </a:r>
            <a:endParaRPr lang="en-US" sz="2600" dirty="0"/>
          </a:p>
        </p:txBody>
      </p:sp>
      <p:sp>
        <p:nvSpPr>
          <p:cNvPr id="8" name="Text 6"/>
          <p:cNvSpPr txBox="1"/>
          <p:nvPr/>
        </p:nvSpPr>
        <p:spPr>
          <a:xfrm>
            <a:off x="4709160" y="1005840"/>
            <a:ext cx="1097280" cy="731520"/>
          </a:xfrm>
          <a:prstGeom prst="rect">
            <a:avLst/>
          </a:prstGeom>
          <a:noFill/>
          <a:ln/>
        </p:spPr>
        <p:txBody>
          <a:bodyPr wrap="square" lIns="0" tIns="0" rIns="0" bIns="0" rtlCol="0" anchor="ctr"/>
          <a:lstStyle/>
          <a:p>
            <a:pPr marL="0" indent="0">
              <a:buNone/>
            </a:pPr>
            <a:r>
              <a:rPr lang="en-US" sz="1400" dirty="0">
                <a:solidFill>
                  <a:schemeClr val="tx1"/>
                </a:solidFill>
              </a:rPr>
              <a:t>variables</a:t>
            </a:r>
            <a:endParaRPr lang="en-US" sz="1400" dirty="0"/>
          </a:p>
        </p:txBody>
      </p:sp>
      <p:sp>
        <p:nvSpPr>
          <p:cNvPr id="9" name="Shape 7"/>
          <p:cNvSpPr/>
          <p:nvPr/>
        </p:nvSpPr>
        <p:spPr>
          <a:xfrm>
            <a:off x="6126480" y="1005840"/>
            <a:ext cx="2560320" cy="731520"/>
          </a:xfrm>
          <a:prstGeom prst="roundRect">
            <a:avLst>
              <a:gd name="adj" fmla="val 10000"/>
            </a:avLst>
          </a:prstGeom>
          <a:solidFill>
            <a:schemeClr val="bg2"/>
          </a:solidFill>
          <a:ln w="12700">
            <a:solidFill>
              <a:schemeClr val="bg2"/>
            </a:solidFill>
            <a:prstDash val="solid"/>
          </a:ln>
        </p:spPr>
        <p:txBody>
          <a:bodyPr/>
          <a:lstStyle/>
          <a:p>
            <a:endParaRPr lang="es-MX"/>
          </a:p>
        </p:txBody>
      </p:sp>
      <p:sp>
        <p:nvSpPr>
          <p:cNvPr id="10" name="Text 8"/>
          <p:cNvSpPr txBox="1"/>
          <p:nvPr/>
        </p:nvSpPr>
        <p:spPr>
          <a:xfrm>
            <a:off x="6263640" y="1005840"/>
            <a:ext cx="1325880" cy="731520"/>
          </a:xfrm>
          <a:prstGeom prst="rect">
            <a:avLst/>
          </a:prstGeom>
          <a:noFill/>
          <a:ln/>
        </p:spPr>
        <p:txBody>
          <a:bodyPr wrap="square" lIns="0" tIns="0" rIns="0" bIns="0" rtlCol="0" anchor="ctr"/>
          <a:lstStyle/>
          <a:p>
            <a:pPr marL="0" indent="0">
              <a:buNone/>
            </a:pPr>
            <a:r>
              <a:rPr lang="en-US" sz="2600" b="1" dirty="0">
                <a:solidFill>
                  <a:schemeClr val="accent1"/>
                </a:solidFill>
                <a:latin typeface="Cambria" pitchFamily="34" charset="0"/>
                <a:ea typeface="Cambria" pitchFamily="34" charset="-122"/>
                <a:cs typeface="Cambria" pitchFamily="34" charset="-120"/>
              </a:rPr>
              <a:t>11,7 %</a:t>
            </a:r>
            <a:endParaRPr lang="en-US" sz="2600" dirty="0"/>
          </a:p>
        </p:txBody>
      </p:sp>
      <p:sp>
        <p:nvSpPr>
          <p:cNvPr id="11" name="Text 9"/>
          <p:cNvSpPr txBox="1"/>
          <p:nvPr/>
        </p:nvSpPr>
        <p:spPr>
          <a:xfrm>
            <a:off x="7543800" y="1005840"/>
            <a:ext cx="1097280" cy="731520"/>
          </a:xfrm>
          <a:prstGeom prst="rect">
            <a:avLst/>
          </a:prstGeom>
          <a:noFill/>
          <a:ln/>
        </p:spPr>
        <p:txBody>
          <a:bodyPr wrap="square" lIns="0" tIns="0" rIns="0" bIns="0" rtlCol="0" anchor="ctr"/>
          <a:lstStyle/>
          <a:p>
            <a:pPr marL="0" indent="0">
              <a:buNone/>
            </a:pPr>
            <a:r>
              <a:rPr lang="en-US" sz="1400" dirty="0">
                <a:solidFill>
                  <a:schemeClr val="tx1"/>
                </a:solidFill>
              </a:rPr>
              <a:t>contrata (yes)</a:t>
            </a:r>
            <a:endParaRPr lang="en-US" sz="1400" dirty="0"/>
          </a:p>
        </p:txBody>
      </p:sp>
      <p:sp>
        <p:nvSpPr>
          <p:cNvPr id="12" name="Shape 10"/>
          <p:cNvSpPr/>
          <p:nvPr/>
        </p:nvSpPr>
        <p:spPr>
          <a:xfrm>
            <a:off x="457200" y="1920240"/>
            <a:ext cx="5029200" cy="640080"/>
          </a:xfrm>
          <a:prstGeom prst="roundRect">
            <a:avLst>
              <a:gd name="adj" fmla="val 11429"/>
            </a:avLst>
          </a:prstGeom>
          <a:solidFill>
            <a:schemeClr val="bg2"/>
          </a:solidFill>
          <a:ln w="12700">
            <a:solidFill>
              <a:schemeClr val="bg2"/>
            </a:solidFill>
            <a:prstDash val="solid"/>
          </a:ln>
        </p:spPr>
        <p:txBody>
          <a:bodyPr/>
          <a:lstStyle/>
          <a:p>
            <a:endParaRPr lang="es-MX"/>
          </a:p>
        </p:txBody>
      </p:sp>
      <p:sp>
        <p:nvSpPr>
          <p:cNvPr id="13" name="Shape 11"/>
          <p:cNvSpPr/>
          <p:nvPr/>
        </p:nvSpPr>
        <p:spPr>
          <a:xfrm>
            <a:off x="621792" y="2084832"/>
            <a:ext cx="457200" cy="457200"/>
          </a:xfrm>
          <a:prstGeom prst="ellipse">
            <a:avLst/>
          </a:prstGeom>
          <a:solidFill>
            <a:schemeClr val="accent1"/>
          </a:solidFill>
          <a:ln w="12700">
            <a:solidFill>
              <a:schemeClr val="accent1"/>
            </a:solidFill>
            <a:prstDash val="solid"/>
          </a:ln>
        </p:spPr>
        <p:txBody>
          <a:bodyPr/>
          <a:lstStyle/>
          <a:p>
            <a:endParaRPr lang="es-MX"/>
          </a:p>
        </p:txBody>
      </p:sp>
      <p:pic>
        <p:nvPicPr>
          <p:cNvPr id="14" name="Image 0" descr="preencoded.png"/>
          <p:cNvPicPr>
            <a:picLocks noChangeAspect="1"/>
          </p:cNvPicPr>
          <p:nvPr/>
        </p:nvPicPr>
        <p:blipFill>
          <a:blip r:embed="rId3"/>
          <a:stretch>
            <a:fillRect/>
          </a:stretch>
        </p:blipFill>
        <p:spPr>
          <a:xfrm>
            <a:off x="722376" y="2185416"/>
            <a:ext cx="256032" cy="256032"/>
          </a:xfrm>
          <a:prstGeom prst="rect">
            <a:avLst/>
          </a:prstGeom>
        </p:spPr>
      </p:pic>
      <p:sp>
        <p:nvSpPr>
          <p:cNvPr id="15" name="Text 12"/>
          <p:cNvSpPr txBox="1"/>
          <p:nvPr/>
        </p:nvSpPr>
        <p:spPr>
          <a:xfrm>
            <a:off x="1234440" y="1993392"/>
            <a:ext cx="4069080" cy="493776"/>
          </a:xfrm>
          <a:prstGeom prst="rect">
            <a:avLst/>
          </a:prstGeom>
          <a:noFill/>
          <a:ln/>
        </p:spPr>
        <p:txBody>
          <a:bodyPr wrap="square" lIns="0" tIns="0" rIns="0" bIns="0" rtlCol="0" anchor="t"/>
          <a:lstStyle/>
          <a:p>
            <a:pPr marL="0" indent="0">
              <a:buNone/>
            </a:pPr>
            <a:r>
              <a:rPr lang="en-US" sz="1400" dirty="0">
                <a:solidFill>
                  <a:schemeClr val="tx1"/>
                </a:solidFill>
              </a:rPr>
              <a:t>Partición 60/20/20 estratificada; ajuste solo con entrenamiento</a:t>
            </a:r>
            <a:endParaRPr lang="en-US" sz="1400" dirty="0"/>
          </a:p>
        </p:txBody>
      </p:sp>
      <p:sp>
        <p:nvSpPr>
          <p:cNvPr id="16" name="Shape 13"/>
          <p:cNvSpPr/>
          <p:nvPr/>
        </p:nvSpPr>
        <p:spPr>
          <a:xfrm>
            <a:off x="457200" y="2651760"/>
            <a:ext cx="5029200" cy="640080"/>
          </a:xfrm>
          <a:prstGeom prst="roundRect">
            <a:avLst>
              <a:gd name="adj" fmla="val 11429"/>
            </a:avLst>
          </a:prstGeom>
          <a:solidFill>
            <a:schemeClr val="bg2"/>
          </a:solidFill>
          <a:ln w="12700">
            <a:solidFill>
              <a:schemeClr val="bg2"/>
            </a:solidFill>
            <a:prstDash val="solid"/>
          </a:ln>
        </p:spPr>
        <p:txBody>
          <a:bodyPr/>
          <a:lstStyle/>
          <a:p>
            <a:endParaRPr lang="es-MX"/>
          </a:p>
        </p:txBody>
      </p:sp>
      <p:sp>
        <p:nvSpPr>
          <p:cNvPr id="17" name="Shape 14"/>
          <p:cNvSpPr/>
          <p:nvPr/>
        </p:nvSpPr>
        <p:spPr>
          <a:xfrm>
            <a:off x="621792" y="2816352"/>
            <a:ext cx="457200" cy="457200"/>
          </a:xfrm>
          <a:prstGeom prst="ellipse">
            <a:avLst/>
          </a:prstGeom>
          <a:solidFill>
            <a:schemeClr val="accent1"/>
          </a:solidFill>
          <a:ln w="12700">
            <a:solidFill>
              <a:schemeClr val="accent1"/>
            </a:solidFill>
            <a:prstDash val="solid"/>
          </a:ln>
        </p:spPr>
        <p:txBody>
          <a:bodyPr/>
          <a:lstStyle/>
          <a:p>
            <a:endParaRPr lang="es-MX"/>
          </a:p>
        </p:txBody>
      </p:sp>
      <p:pic>
        <p:nvPicPr>
          <p:cNvPr id="18" name="Image 1" descr="preencoded.png"/>
          <p:cNvPicPr>
            <a:picLocks noChangeAspect="1"/>
          </p:cNvPicPr>
          <p:nvPr/>
        </p:nvPicPr>
        <p:blipFill>
          <a:blip r:embed="rId4"/>
          <a:stretch>
            <a:fillRect/>
          </a:stretch>
        </p:blipFill>
        <p:spPr>
          <a:xfrm>
            <a:off x="722376" y="2916936"/>
            <a:ext cx="256032" cy="256032"/>
          </a:xfrm>
          <a:prstGeom prst="rect">
            <a:avLst/>
          </a:prstGeom>
        </p:spPr>
      </p:pic>
      <p:sp>
        <p:nvSpPr>
          <p:cNvPr id="19" name="Text 15"/>
          <p:cNvSpPr txBox="1"/>
          <p:nvPr/>
        </p:nvSpPr>
        <p:spPr>
          <a:xfrm>
            <a:off x="1234440" y="2724912"/>
            <a:ext cx="4069080" cy="493776"/>
          </a:xfrm>
          <a:prstGeom prst="rect">
            <a:avLst/>
          </a:prstGeom>
          <a:noFill/>
          <a:ln/>
        </p:spPr>
        <p:txBody>
          <a:bodyPr wrap="square" lIns="0" tIns="0" rIns="0" bIns="0" rtlCol="0" anchor="t"/>
          <a:lstStyle/>
          <a:p>
            <a:pPr marL="0" indent="0">
              <a:buNone/>
            </a:pPr>
            <a:r>
              <a:rPr lang="en-US" sz="1400" dirty="0">
                <a:solidFill>
                  <a:schemeClr val="tx1"/>
                </a:solidFill>
              </a:rPr>
              <a:t>Estandarización + One-Hot → 50 variables de entrada</a:t>
            </a:r>
            <a:endParaRPr lang="en-US" sz="1400" dirty="0"/>
          </a:p>
        </p:txBody>
      </p:sp>
      <p:sp>
        <p:nvSpPr>
          <p:cNvPr id="20" name="Shape 16"/>
          <p:cNvSpPr/>
          <p:nvPr/>
        </p:nvSpPr>
        <p:spPr>
          <a:xfrm>
            <a:off x="457200" y="3383280"/>
            <a:ext cx="5029200" cy="640080"/>
          </a:xfrm>
          <a:prstGeom prst="roundRect">
            <a:avLst>
              <a:gd name="adj" fmla="val 11429"/>
            </a:avLst>
          </a:prstGeom>
          <a:solidFill>
            <a:schemeClr val="bg2"/>
          </a:solidFill>
          <a:ln w="12700">
            <a:solidFill>
              <a:schemeClr val="bg2"/>
            </a:solidFill>
            <a:prstDash val="solid"/>
          </a:ln>
        </p:spPr>
        <p:txBody>
          <a:bodyPr/>
          <a:lstStyle/>
          <a:p>
            <a:endParaRPr lang="es-MX"/>
          </a:p>
        </p:txBody>
      </p:sp>
      <p:sp>
        <p:nvSpPr>
          <p:cNvPr id="21" name="Shape 17"/>
          <p:cNvSpPr/>
          <p:nvPr/>
        </p:nvSpPr>
        <p:spPr>
          <a:xfrm>
            <a:off x="621792" y="3547872"/>
            <a:ext cx="457200" cy="457200"/>
          </a:xfrm>
          <a:prstGeom prst="ellipse">
            <a:avLst/>
          </a:prstGeom>
          <a:solidFill>
            <a:schemeClr val="accent1"/>
          </a:solidFill>
          <a:ln w="12700">
            <a:solidFill>
              <a:schemeClr val="accent1"/>
            </a:solidFill>
            <a:prstDash val="solid"/>
          </a:ln>
        </p:spPr>
        <p:txBody>
          <a:bodyPr/>
          <a:lstStyle/>
          <a:p>
            <a:endParaRPr lang="es-MX"/>
          </a:p>
        </p:txBody>
      </p:sp>
      <p:pic>
        <p:nvPicPr>
          <p:cNvPr id="22" name="Image 2" descr="preencoded.png"/>
          <p:cNvPicPr>
            <a:picLocks noChangeAspect="1"/>
          </p:cNvPicPr>
          <p:nvPr/>
        </p:nvPicPr>
        <p:blipFill>
          <a:blip r:embed="rId5"/>
          <a:stretch>
            <a:fillRect/>
          </a:stretch>
        </p:blipFill>
        <p:spPr>
          <a:xfrm>
            <a:off x="722376" y="3648456"/>
            <a:ext cx="256032" cy="256032"/>
          </a:xfrm>
          <a:prstGeom prst="rect">
            <a:avLst/>
          </a:prstGeom>
        </p:spPr>
      </p:pic>
      <p:sp>
        <p:nvSpPr>
          <p:cNvPr id="23" name="Text 18"/>
          <p:cNvSpPr txBox="1"/>
          <p:nvPr/>
        </p:nvSpPr>
        <p:spPr>
          <a:xfrm>
            <a:off x="1234440" y="3456432"/>
            <a:ext cx="4069080" cy="493776"/>
          </a:xfrm>
          <a:prstGeom prst="rect">
            <a:avLst/>
          </a:prstGeom>
          <a:noFill/>
          <a:ln/>
        </p:spPr>
        <p:txBody>
          <a:bodyPr wrap="square" lIns="0" tIns="0" rIns="0" bIns="0" rtlCol="0" anchor="t"/>
          <a:lstStyle/>
          <a:p>
            <a:pPr marL="0" indent="0">
              <a:buNone/>
            </a:pPr>
            <a:r>
              <a:rPr lang="en-US" sz="1400" dirty="0">
                <a:solidFill>
                  <a:schemeClr val="tx1"/>
                </a:solidFill>
              </a:rPr>
              <a:t>Pesos de clase: yes 4,27 · no 0,57</a:t>
            </a:r>
            <a:endParaRPr lang="en-US" sz="1400" dirty="0"/>
          </a:p>
        </p:txBody>
      </p:sp>
      <p:sp>
        <p:nvSpPr>
          <p:cNvPr id="24" name="Shape 19"/>
          <p:cNvSpPr/>
          <p:nvPr/>
        </p:nvSpPr>
        <p:spPr>
          <a:xfrm>
            <a:off x="457200" y="4114800"/>
            <a:ext cx="5029200" cy="640080"/>
          </a:xfrm>
          <a:prstGeom prst="roundRect">
            <a:avLst>
              <a:gd name="adj" fmla="val 11429"/>
            </a:avLst>
          </a:prstGeom>
          <a:solidFill>
            <a:schemeClr val="bg2"/>
          </a:solidFill>
          <a:ln w="12700">
            <a:solidFill>
              <a:schemeClr val="bg2"/>
            </a:solidFill>
            <a:prstDash val="solid"/>
          </a:ln>
        </p:spPr>
        <p:txBody>
          <a:bodyPr/>
          <a:lstStyle/>
          <a:p>
            <a:endParaRPr lang="es-MX"/>
          </a:p>
        </p:txBody>
      </p:sp>
      <p:sp>
        <p:nvSpPr>
          <p:cNvPr id="25" name="Shape 20"/>
          <p:cNvSpPr/>
          <p:nvPr/>
        </p:nvSpPr>
        <p:spPr>
          <a:xfrm>
            <a:off x="621792" y="4279392"/>
            <a:ext cx="457200" cy="457200"/>
          </a:xfrm>
          <a:prstGeom prst="ellipse">
            <a:avLst/>
          </a:prstGeom>
          <a:solidFill>
            <a:schemeClr val="accent1"/>
          </a:solidFill>
          <a:ln w="12700">
            <a:solidFill>
              <a:schemeClr val="accent1"/>
            </a:solidFill>
            <a:prstDash val="solid"/>
          </a:ln>
        </p:spPr>
        <p:txBody>
          <a:bodyPr/>
          <a:lstStyle/>
          <a:p>
            <a:endParaRPr lang="es-MX"/>
          </a:p>
        </p:txBody>
      </p:sp>
      <p:pic>
        <p:nvPicPr>
          <p:cNvPr id="26" name="Image 3" descr="preencoded.png"/>
          <p:cNvPicPr>
            <a:picLocks noChangeAspect="1"/>
          </p:cNvPicPr>
          <p:nvPr/>
        </p:nvPicPr>
        <p:blipFill>
          <a:blip r:embed="rId6"/>
          <a:stretch>
            <a:fillRect/>
          </a:stretch>
        </p:blipFill>
        <p:spPr>
          <a:xfrm>
            <a:off x="722376" y="4379976"/>
            <a:ext cx="256032" cy="256032"/>
          </a:xfrm>
          <a:prstGeom prst="rect">
            <a:avLst/>
          </a:prstGeom>
        </p:spPr>
      </p:pic>
      <p:sp>
        <p:nvSpPr>
          <p:cNvPr id="27" name="Text 21"/>
          <p:cNvSpPr txBox="1"/>
          <p:nvPr/>
        </p:nvSpPr>
        <p:spPr>
          <a:xfrm>
            <a:off x="1234440" y="4187952"/>
            <a:ext cx="4069080" cy="493776"/>
          </a:xfrm>
          <a:prstGeom prst="rect">
            <a:avLst/>
          </a:prstGeom>
          <a:noFill/>
          <a:ln/>
        </p:spPr>
        <p:txBody>
          <a:bodyPr wrap="square" lIns="0" tIns="0" rIns="0" bIns="0" rtlCol="0" anchor="t"/>
          <a:lstStyle/>
          <a:p>
            <a:pPr marL="0" indent="0">
              <a:buNone/>
            </a:pPr>
            <a:r>
              <a:rPr lang="en-US" sz="1400" dirty="0">
                <a:solidFill>
                  <a:schemeClr val="tx1"/>
                </a:solidFill>
              </a:rPr>
              <a:t>Foco: Precision, Recall y F1 («siempre no» = 88,3 %)</a:t>
            </a:r>
            <a:endParaRPr lang="en-US" sz="1400" dirty="0"/>
          </a:p>
        </p:txBody>
      </p:sp>
      <p:sp>
        <p:nvSpPr>
          <p:cNvPr id="28" name="Shape 22"/>
          <p:cNvSpPr/>
          <p:nvPr/>
        </p:nvSpPr>
        <p:spPr>
          <a:xfrm>
            <a:off x="5715000" y="1920240"/>
            <a:ext cx="2971800" cy="2834640"/>
          </a:xfrm>
          <a:prstGeom prst="roundRect">
            <a:avLst>
              <a:gd name="adj" fmla="val 2581"/>
            </a:avLst>
          </a:prstGeom>
          <a:solidFill>
            <a:schemeClr val="tx1"/>
          </a:solidFill>
          <a:ln w="12700">
            <a:solidFill>
              <a:schemeClr val="tx1"/>
            </a:solidFill>
            <a:prstDash val="solid"/>
          </a:ln>
        </p:spPr>
        <p:txBody>
          <a:bodyPr/>
          <a:lstStyle/>
          <a:p>
            <a:endParaRPr lang="es-MX"/>
          </a:p>
        </p:txBody>
      </p:sp>
      <p:sp>
        <p:nvSpPr>
          <p:cNvPr id="29" name="Text 23"/>
          <p:cNvSpPr txBox="1"/>
          <p:nvPr/>
        </p:nvSpPr>
        <p:spPr>
          <a:xfrm>
            <a:off x="5897880" y="2057400"/>
            <a:ext cx="2606040" cy="320040"/>
          </a:xfrm>
          <a:prstGeom prst="rect">
            <a:avLst/>
          </a:prstGeom>
          <a:noFill/>
          <a:ln/>
        </p:spPr>
        <p:txBody>
          <a:bodyPr wrap="square" lIns="0" tIns="0" rIns="0" bIns="0" rtlCol="0" anchor="ctr"/>
          <a:lstStyle/>
          <a:p>
            <a:pPr marL="0" indent="0">
              <a:buNone/>
            </a:pPr>
            <a:r>
              <a:rPr lang="en-US" sz="1600" b="1" dirty="0">
                <a:solidFill>
                  <a:schemeClr val="bg1"/>
                </a:solidFill>
              </a:rPr>
              <a:t>Se excluye duration</a:t>
            </a:r>
            <a:endParaRPr lang="en-US" sz="1600" dirty="0"/>
          </a:p>
        </p:txBody>
      </p:sp>
      <p:sp>
        <p:nvSpPr>
          <p:cNvPr id="30" name="Text 24"/>
          <p:cNvSpPr txBox="1"/>
          <p:nvPr/>
        </p:nvSpPr>
        <p:spPr>
          <a:xfrm>
            <a:off x="5897880" y="2423160"/>
            <a:ext cx="2606040" cy="640080"/>
          </a:xfrm>
          <a:prstGeom prst="rect">
            <a:avLst/>
          </a:prstGeom>
          <a:noFill/>
          <a:ln/>
        </p:spPr>
        <p:txBody>
          <a:bodyPr wrap="square" lIns="0" tIns="0" rIns="0" bIns="0" rtlCol="0" anchor="t"/>
          <a:lstStyle/>
          <a:p>
            <a:pPr marL="0" indent="0">
              <a:buNone/>
            </a:pPr>
            <a:r>
              <a:rPr lang="en-US" sz="1400" dirty="0">
                <a:solidFill>
                  <a:schemeClr val="bg2"/>
                </a:solidFill>
              </a:rPr>
              <a:t>Fuga de información: solo se conoce al terminar la llamada.</a:t>
            </a:r>
            <a:endParaRPr lang="en-US" sz="1400" dirty="0"/>
          </a:p>
        </p:txBody>
      </p:sp>
      <p:sp>
        <p:nvSpPr>
          <p:cNvPr id="31" name="Text 25"/>
          <p:cNvSpPr txBox="1"/>
          <p:nvPr/>
        </p:nvSpPr>
        <p:spPr>
          <a:xfrm>
            <a:off x="5897880" y="3246120"/>
            <a:ext cx="2606040" cy="502920"/>
          </a:xfrm>
          <a:prstGeom prst="rect">
            <a:avLst/>
          </a:prstGeom>
          <a:noFill/>
          <a:ln/>
        </p:spPr>
        <p:txBody>
          <a:bodyPr wrap="square" lIns="0" tIns="0" rIns="0" bIns="0" rtlCol="0" anchor="ctr"/>
          <a:lstStyle/>
          <a:p>
            <a:pPr marL="0" indent="0">
              <a:buNone/>
            </a:pPr>
            <a:r>
              <a:rPr lang="en-US" sz="2600" b="1" dirty="0">
                <a:solidFill>
                  <a:schemeClr val="accent2"/>
                </a:solidFill>
                <a:latin typeface="Cambria" pitchFamily="34" charset="0"/>
                <a:ea typeface="Cambria" pitchFamily="34" charset="-122"/>
                <a:cs typeface="Cambria" pitchFamily="34" charset="-120"/>
              </a:rPr>
              <a:t>0,452 → 0,599</a:t>
            </a:r>
            <a:endParaRPr lang="en-US" sz="2600" dirty="0"/>
          </a:p>
        </p:txBody>
      </p:sp>
      <p:sp>
        <p:nvSpPr>
          <p:cNvPr id="32" name="Text 26"/>
          <p:cNvSpPr txBox="1"/>
          <p:nvPr/>
        </p:nvSpPr>
        <p:spPr>
          <a:xfrm>
            <a:off x="5897880" y="3794760"/>
            <a:ext cx="2606040" cy="548640"/>
          </a:xfrm>
          <a:prstGeom prst="rect">
            <a:avLst/>
          </a:prstGeom>
          <a:noFill/>
          <a:ln/>
        </p:spPr>
        <p:txBody>
          <a:bodyPr wrap="square" lIns="0" tIns="0" rIns="0" bIns="0" rtlCol="0" anchor="t"/>
          <a:lstStyle/>
          <a:p>
            <a:pPr marL="0" indent="0">
              <a:buNone/>
            </a:pPr>
            <a:r>
              <a:rPr lang="en-US" sz="1400" dirty="0">
                <a:solidFill>
                  <a:schemeClr val="bg2"/>
                </a:solidFill>
              </a:rPr>
              <a:t>F1 sin / con duration (mejora irreal)</a:t>
            </a:r>
            <a:endParaRPr lang="en-US" sz="1400" dirty="0"/>
          </a:p>
        </p:txBody>
      </p:sp>
      <p:sp>
        <p:nvSpPr>
          <p:cNvPr id="33"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B6C"/>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Modelo y funciones</a:t>
            </a:r>
            <a:endParaRPr lang="en-US" sz="2800" dirty="0"/>
          </a:p>
        </p:txBody>
      </p:sp>
      <p:sp>
        <p:nvSpPr>
          <p:cNvPr id="3" name="Shape 1"/>
          <p:cNvSpPr/>
          <p:nvPr/>
        </p:nvSpPr>
        <p:spPr>
          <a:xfrm>
            <a:off x="457200" y="1005840"/>
            <a:ext cx="1828800" cy="777240"/>
          </a:xfrm>
          <a:prstGeom prst="roundRect">
            <a:avLst>
              <a:gd name="adj" fmla="val 9412"/>
            </a:avLst>
          </a:prstGeom>
          <a:solidFill>
            <a:schemeClr val="bg2"/>
          </a:solidFill>
          <a:ln w="12700">
            <a:solidFill>
              <a:schemeClr val="bg2"/>
            </a:solidFill>
            <a:prstDash val="solid"/>
          </a:ln>
        </p:spPr>
        <p:txBody>
          <a:bodyPr/>
          <a:lstStyle/>
          <a:p>
            <a:endParaRPr lang="es-MX"/>
          </a:p>
        </p:txBody>
      </p:sp>
      <p:sp>
        <p:nvSpPr>
          <p:cNvPr id="4" name="Text 2"/>
          <p:cNvSpPr txBox="1"/>
          <p:nvPr/>
        </p:nvSpPr>
        <p:spPr>
          <a:xfrm>
            <a:off x="457200" y="1005840"/>
            <a:ext cx="1828800" cy="777240"/>
          </a:xfrm>
          <a:prstGeom prst="rect">
            <a:avLst/>
          </a:prstGeom>
          <a:noFill/>
          <a:ln/>
        </p:spPr>
        <p:txBody>
          <a:bodyPr wrap="square" lIns="0" tIns="0" rIns="0" bIns="0" rtlCol="0" anchor="ctr"/>
          <a:lstStyle/>
          <a:p>
            <a:pPr marL="0" indent="0" algn="ctr">
              <a:buNone/>
            </a:pPr>
            <a:r>
              <a:rPr lang="en-US" sz="1400" b="1" dirty="0">
                <a:solidFill>
                  <a:schemeClr val="tx1"/>
                </a:solidFill>
              </a:rPr>
              <a:t>Entrada</a:t>
            </a:r>
            <a:endParaRPr lang="en-US" sz="1400" dirty="0"/>
          </a:p>
          <a:p>
            <a:pPr marL="0" indent="0" algn="ctr">
              <a:buNone/>
            </a:pPr>
            <a:r>
              <a:rPr lang="en-US" sz="1400" dirty="0">
                <a:solidFill>
                  <a:schemeClr val="tx1"/>
                </a:solidFill>
              </a:rPr>
              <a:t>50 variables</a:t>
            </a:r>
            <a:endParaRPr lang="en-US" sz="1400" dirty="0"/>
          </a:p>
        </p:txBody>
      </p:sp>
      <p:sp>
        <p:nvSpPr>
          <p:cNvPr id="5" name="Shape 3"/>
          <p:cNvSpPr/>
          <p:nvPr/>
        </p:nvSpPr>
        <p:spPr>
          <a:xfrm>
            <a:off x="2304288" y="1394460"/>
            <a:ext cx="265176" cy="0"/>
          </a:xfrm>
          <a:prstGeom prst="line">
            <a:avLst/>
          </a:prstGeom>
          <a:noFill/>
          <a:ln w="19050">
            <a:solidFill>
              <a:schemeClr val="tx2"/>
            </a:solidFill>
            <a:prstDash val="solid"/>
            <a:tailEnd type="triangle"/>
          </a:ln>
        </p:spPr>
        <p:txBody>
          <a:bodyPr/>
          <a:lstStyle/>
          <a:p>
            <a:endParaRPr lang="es-MX"/>
          </a:p>
        </p:txBody>
      </p:sp>
      <p:sp>
        <p:nvSpPr>
          <p:cNvPr id="6" name="Shape 4"/>
          <p:cNvSpPr/>
          <p:nvPr/>
        </p:nvSpPr>
        <p:spPr>
          <a:xfrm>
            <a:off x="2587752" y="1005840"/>
            <a:ext cx="1828800" cy="777240"/>
          </a:xfrm>
          <a:prstGeom prst="roundRect">
            <a:avLst>
              <a:gd name="adj" fmla="val 9412"/>
            </a:avLst>
          </a:prstGeom>
          <a:solidFill>
            <a:schemeClr val="bg2"/>
          </a:solidFill>
          <a:ln w="12700">
            <a:solidFill>
              <a:schemeClr val="bg2"/>
            </a:solidFill>
            <a:prstDash val="solid"/>
          </a:ln>
        </p:spPr>
        <p:txBody>
          <a:bodyPr/>
          <a:lstStyle/>
          <a:p>
            <a:endParaRPr lang="es-MX"/>
          </a:p>
        </p:txBody>
      </p:sp>
      <p:sp>
        <p:nvSpPr>
          <p:cNvPr id="7" name="Text 5"/>
          <p:cNvSpPr txBox="1"/>
          <p:nvPr/>
        </p:nvSpPr>
        <p:spPr>
          <a:xfrm>
            <a:off x="2587752" y="1005840"/>
            <a:ext cx="1828800" cy="777240"/>
          </a:xfrm>
          <a:prstGeom prst="rect">
            <a:avLst/>
          </a:prstGeom>
          <a:noFill/>
          <a:ln/>
        </p:spPr>
        <p:txBody>
          <a:bodyPr wrap="square" lIns="0" tIns="0" rIns="0" bIns="0" rtlCol="0" anchor="ctr"/>
          <a:lstStyle/>
          <a:p>
            <a:pPr marL="0" indent="0" algn="ctr">
              <a:buNone/>
            </a:pPr>
            <a:r>
              <a:rPr lang="en-US" sz="1400" b="1" dirty="0">
                <a:solidFill>
                  <a:schemeClr val="tx1"/>
                </a:solidFill>
              </a:rPr>
              <a:t>Dense 64</a:t>
            </a:r>
            <a:endParaRPr lang="en-US" sz="1400" dirty="0"/>
          </a:p>
          <a:p>
            <a:pPr marL="0" indent="0" algn="ctr">
              <a:buNone/>
            </a:pPr>
            <a:r>
              <a:rPr lang="en-US" sz="1400" dirty="0">
                <a:solidFill>
                  <a:schemeClr val="tx1"/>
                </a:solidFill>
              </a:rPr>
              <a:t>ReLU</a:t>
            </a:r>
            <a:endParaRPr lang="en-US" sz="1400" dirty="0"/>
          </a:p>
        </p:txBody>
      </p:sp>
      <p:sp>
        <p:nvSpPr>
          <p:cNvPr id="8" name="Shape 6"/>
          <p:cNvSpPr/>
          <p:nvPr/>
        </p:nvSpPr>
        <p:spPr>
          <a:xfrm>
            <a:off x="4434840" y="1394460"/>
            <a:ext cx="265176" cy="0"/>
          </a:xfrm>
          <a:prstGeom prst="line">
            <a:avLst/>
          </a:prstGeom>
          <a:noFill/>
          <a:ln w="19050">
            <a:solidFill>
              <a:schemeClr val="tx2"/>
            </a:solidFill>
            <a:prstDash val="solid"/>
            <a:tailEnd type="triangle"/>
          </a:ln>
        </p:spPr>
        <p:txBody>
          <a:bodyPr/>
          <a:lstStyle/>
          <a:p>
            <a:endParaRPr lang="es-MX"/>
          </a:p>
        </p:txBody>
      </p:sp>
      <p:sp>
        <p:nvSpPr>
          <p:cNvPr id="9" name="Shape 7"/>
          <p:cNvSpPr/>
          <p:nvPr/>
        </p:nvSpPr>
        <p:spPr>
          <a:xfrm>
            <a:off x="4718304" y="1005840"/>
            <a:ext cx="1828800" cy="777240"/>
          </a:xfrm>
          <a:prstGeom prst="roundRect">
            <a:avLst>
              <a:gd name="adj" fmla="val 9412"/>
            </a:avLst>
          </a:prstGeom>
          <a:solidFill>
            <a:schemeClr val="bg2"/>
          </a:solidFill>
          <a:ln w="12700">
            <a:solidFill>
              <a:schemeClr val="bg2"/>
            </a:solidFill>
            <a:prstDash val="solid"/>
          </a:ln>
        </p:spPr>
        <p:txBody>
          <a:bodyPr/>
          <a:lstStyle/>
          <a:p>
            <a:endParaRPr lang="es-MX"/>
          </a:p>
        </p:txBody>
      </p:sp>
      <p:sp>
        <p:nvSpPr>
          <p:cNvPr id="10" name="Text 8"/>
          <p:cNvSpPr txBox="1"/>
          <p:nvPr/>
        </p:nvSpPr>
        <p:spPr>
          <a:xfrm>
            <a:off x="4718304" y="1005840"/>
            <a:ext cx="1828800" cy="777240"/>
          </a:xfrm>
          <a:prstGeom prst="rect">
            <a:avLst/>
          </a:prstGeom>
          <a:noFill/>
          <a:ln/>
        </p:spPr>
        <p:txBody>
          <a:bodyPr wrap="square" lIns="0" tIns="0" rIns="0" bIns="0" rtlCol="0" anchor="ctr"/>
          <a:lstStyle/>
          <a:p>
            <a:pPr marL="0" indent="0" algn="ctr">
              <a:buNone/>
            </a:pPr>
            <a:r>
              <a:rPr lang="en-US" sz="1400" b="1" dirty="0">
                <a:solidFill>
                  <a:schemeClr val="tx1"/>
                </a:solidFill>
              </a:rPr>
              <a:t>Dense 32</a:t>
            </a:r>
            <a:endParaRPr lang="en-US" sz="1400" dirty="0"/>
          </a:p>
          <a:p>
            <a:pPr marL="0" indent="0" algn="ctr">
              <a:buNone/>
            </a:pPr>
            <a:r>
              <a:rPr lang="en-US" sz="1400" dirty="0">
                <a:solidFill>
                  <a:schemeClr val="tx1"/>
                </a:solidFill>
              </a:rPr>
              <a:t>ReLU</a:t>
            </a:r>
            <a:endParaRPr lang="en-US" sz="1400" dirty="0"/>
          </a:p>
        </p:txBody>
      </p:sp>
      <p:sp>
        <p:nvSpPr>
          <p:cNvPr id="11" name="Shape 9"/>
          <p:cNvSpPr/>
          <p:nvPr/>
        </p:nvSpPr>
        <p:spPr>
          <a:xfrm>
            <a:off x="6565392" y="1394460"/>
            <a:ext cx="265176" cy="0"/>
          </a:xfrm>
          <a:prstGeom prst="line">
            <a:avLst/>
          </a:prstGeom>
          <a:noFill/>
          <a:ln w="19050">
            <a:solidFill>
              <a:schemeClr val="tx2"/>
            </a:solidFill>
            <a:prstDash val="solid"/>
            <a:tailEnd type="triangle"/>
          </a:ln>
        </p:spPr>
        <p:txBody>
          <a:bodyPr/>
          <a:lstStyle/>
          <a:p>
            <a:endParaRPr lang="es-MX"/>
          </a:p>
        </p:txBody>
      </p:sp>
      <p:sp>
        <p:nvSpPr>
          <p:cNvPr id="12" name="Shape 10"/>
          <p:cNvSpPr/>
          <p:nvPr/>
        </p:nvSpPr>
        <p:spPr>
          <a:xfrm>
            <a:off x="6848856" y="1005840"/>
            <a:ext cx="1828800" cy="777240"/>
          </a:xfrm>
          <a:prstGeom prst="roundRect">
            <a:avLst>
              <a:gd name="adj" fmla="val 9412"/>
            </a:avLst>
          </a:prstGeom>
          <a:solidFill>
            <a:schemeClr val="accent1"/>
          </a:solidFill>
          <a:ln w="12700">
            <a:solidFill>
              <a:schemeClr val="accent1"/>
            </a:solidFill>
            <a:prstDash val="solid"/>
          </a:ln>
        </p:spPr>
        <p:txBody>
          <a:bodyPr/>
          <a:lstStyle/>
          <a:p>
            <a:endParaRPr lang="es-MX"/>
          </a:p>
        </p:txBody>
      </p:sp>
      <p:sp>
        <p:nvSpPr>
          <p:cNvPr id="13" name="Text 11"/>
          <p:cNvSpPr txBox="1"/>
          <p:nvPr/>
        </p:nvSpPr>
        <p:spPr>
          <a:xfrm>
            <a:off x="6848856" y="1005840"/>
            <a:ext cx="1828800" cy="777240"/>
          </a:xfrm>
          <a:prstGeom prst="rect">
            <a:avLst/>
          </a:prstGeom>
          <a:noFill/>
          <a:ln/>
        </p:spPr>
        <p:txBody>
          <a:bodyPr wrap="square" lIns="0" tIns="0" rIns="0" bIns="0" rtlCol="0" anchor="ctr"/>
          <a:lstStyle/>
          <a:p>
            <a:pPr marL="0" indent="0" algn="ctr">
              <a:buNone/>
            </a:pPr>
            <a:r>
              <a:rPr lang="en-US" sz="1400" b="1" dirty="0">
                <a:solidFill>
                  <a:schemeClr val="bg1"/>
                </a:solidFill>
              </a:rPr>
              <a:t>Salida 1</a:t>
            </a:r>
            <a:endParaRPr lang="en-US" sz="1400" dirty="0"/>
          </a:p>
          <a:p>
            <a:pPr marL="0" indent="0" algn="ctr">
              <a:buNone/>
            </a:pPr>
            <a:r>
              <a:rPr lang="en-US" sz="1400" dirty="0">
                <a:solidFill>
                  <a:schemeClr val="bg1"/>
                </a:solidFill>
              </a:rPr>
              <a:t>Sigmoide</a:t>
            </a:r>
            <a:endParaRPr lang="en-US" sz="1400" dirty="0"/>
          </a:p>
        </p:txBody>
      </p:sp>
      <p:sp>
        <p:nvSpPr>
          <p:cNvPr id="14" name="Text 12"/>
          <p:cNvSpPr txBox="1"/>
          <p:nvPr/>
        </p:nvSpPr>
        <p:spPr>
          <a:xfrm>
            <a:off x="457200" y="1920240"/>
            <a:ext cx="8229600" cy="320040"/>
          </a:xfrm>
          <a:prstGeom prst="rect">
            <a:avLst/>
          </a:prstGeom>
          <a:noFill/>
          <a:ln/>
        </p:spPr>
        <p:txBody>
          <a:bodyPr wrap="square" lIns="0" tIns="0" rIns="0" bIns="0" rtlCol="0" anchor="ctr"/>
          <a:lstStyle/>
          <a:p>
            <a:pPr marL="0" indent="0">
              <a:buNone/>
            </a:pPr>
            <a:r>
              <a:rPr lang="en-US" sz="1400" b="1" dirty="0">
                <a:solidFill>
                  <a:schemeClr val="tx1"/>
                </a:solidFill>
              </a:rPr>
              <a:t>Pérdida BCE · Adam (lr 0,001) · batch 256 · 20 épocas + EarlyStopping</a:t>
            </a:r>
            <a:endParaRPr lang="en-US" sz="1400" dirty="0"/>
          </a:p>
        </p:txBody>
      </p:sp>
      <p:pic>
        <p:nvPicPr>
          <p:cNvPr id="15" name="Image 0" descr="Funciones de activación, sus derivadas y el gradiente de la pérdida"/>
          <p:cNvPicPr>
            <a:picLocks noChangeAspect="1"/>
          </p:cNvPicPr>
          <p:nvPr/>
        </p:nvPicPr>
        <p:blipFill>
          <a:blip r:embed="rId3"/>
          <a:stretch>
            <a:fillRect/>
          </a:stretch>
        </p:blipFill>
        <p:spPr>
          <a:xfrm>
            <a:off x="457200" y="2377440"/>
            <a:ext cx="8229600" cy="2192190"/>
          </a:xfrm>
          <a:prstGeom prst="rect">
            <a:avLst/>
          </a:prstGeom>
        </p:spPr>
      </p:pic>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B6C"/>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Activación y pérdida</a:t>
            </a:r>
            <a:endParaRPr lang="en-US" sz="2800" dirty="0"/>
          </a:p>
        </p:txBody>
      </p:sp>
      <p:pic>
        <p:nvPicPr>
          <p:cNvPr id="3" name="Image 0" descr="Comparación de ReLU, Tanh y Sigmoide: curvas de pérdida y métricas"/>
          <p:cNvPicPr>
            <a:picLocks noChangeAspect="1"/>
          </p:cNvPicPr>
          <p:nvPr/>
        </p:nvPicPr>
        <p:blipFill>
          <a:blip r:embed="rId3"/>
          <a:stretch>
            <a:fillRect/>
          </a:stretch>
        </p:blipFill>
        <p:spPr>
          <a:xfrm>
            <a:off x="457200" y="960120"/>
            <a:ext cx="8229600" cy="2488019"/>
          </a:xfrm>
          <a:prstGeom prst="rect">
            <a:avLst/>
          </a:prstGeom>
        </p:spPr>
      </p:pic>
      <p:sp>
        <p:nvSpPr>
          <p:cNvPr id="4" name="Shape 1"/>
          <p:cNvSpPr/>
          <p:nvPr/>
        </p:nvSpPr>
        <p:spPr>
          <a:xfrm>
            <a:off x="457200" y="3611880"/>
            <a:ext cx="2606040" cy="1005840"/>
          </a:xfrm>
          <a:prstGeom prst="roundRect">
            <a:avLst>
              <a:gd name="adj" fmla="val 7273"/>
            </a:avLst>
          </a:prstGeom>
          <a:solidFill>
            <a:schemeClr val="bg2"/>
          </a:solidFill>
          <a:ln w="12700">
            <a:solidFill>
              <a:schemeClr val="bg2"/>
            </a:solidFill>
            <a:prstDash val="solid"/>
          </a:ln>
        </p:spPr>
        <p:txBody>
          <a:bodyPr/>
          <a:lstStyle/>
          <a:p>
            <a:endParaRPr lang="es-MX"/>
          </a:p>
        </p:txBody>
      </p:sp>
      <p:sp>
        <p:nvSpPr>
          <p:cNvPr id="5" name="Text 2"/>
          <p:cNvSpPr txBox="1"/>
          <p:nvPr/>
        </p:nvSpPr>
        <p:spPr>
          <a:xfrm>
            <a:off x="640080" y="3685032"/>
            <a:ext cx="2240280" cy="859536"/>
          </a:xfrm>
          <a:prstGeom prst="rect">
            <a:avLst/>
          </a:prstGeom>
          <a:noFill/>
          <a:ln/>
        </p:spPr>
        <p:txBody>
          <a:bodyPr wrap="square" lIns="0" tIns="0" rIns="0" bIns="0" rtlCol="0" anchor="t"/>
          <a:lstStyle/>
          <a:p>
            <a:pPr marL="0" indent="0">
              <a:buNone/>
            </a:pPr>
            <a:r>
              <a:rPr lang="en-US" sz="1400" b="1" dirty="0">
                <a:solidFill>
                  <a:schemeClr val="tx1"/>
                </a:solidFill>
              </a:rPr>
              <a:t>Activación (F1)</a:t>
            </a:r>
            <a:endParaRPr lang="en-US" sz="1400" dirty="0"/>
          </a:p>
          <a:p>
            <a:pPr marL="0" indent="0">
              <a:buNone/>
            </a:pPr>
            <a:r>
              <a:rPr lang="en-US" sz="1400" dirty="0">
                <a:solidFill>
                  <a:schemeClr val="tx1"/>
                </a:solidFill>
              </a:rPr>
              <a:t>ReLU 0,452 · Tanh 0,416 · Sigmoide 0,383</a:t>
            </a:r>
            <a:endParaRPr lang="en-US" sz="1400" dirty="0"/>
          </a:p>
        </p:txBody>
      </p:sp>
      <p:sp>
        <p:nvSpPr>
          <p:cNvPr id="6" name="Shape 3"/>
          <p:cNvSpPr/>
          <p:nvPr/>
        </p:nvSpPr>
        <p:spPr>
          <a:xfrm>
            <a:off x="3268980" y="3611880"/>
            <a:ext cx="2606040" cy="1005840"/>
          </a:xfrm>
          <a:prstGeom prst="roundRect">
            <a:avLst>
              <a:gd name="adj" fmla="val 7273"/>
            </a:avLst>
          </a:prstGeom>
          <a:solidFill>
            <a:schemeClr val="bg2"/>
          </a:solidFill>
          <a:ln w="12700">
            <a:solidFill>
              <a:schemeClr val="bg2"/>
            </a:solidFill>
            <a:prstDash val="solid"/>
          </a:ln>
        </p:spPr>
        <p:txBody>
          <a:bodyPr/>
          <a:lstStyle/>
          <a:p>
            <a:endParaRPr lang="es-MX"/>
          </a:p>
        </p:txBody>
      </p:sp>
      <p:sp>
        <p:nvSpPr>
          <p:cNvPr id="7" name="Text 4"/>
          <p:cNvSpPr txBox="1"/>
          <p:nvPr/>
        </p:nvSpPr>
        <p:spPr>
          <a:xfrm>
            <a:off x="3451860" y="3685032"/>
            <a:ext cx="2240280" cy="859536"/>
          </a:xfrm>
          <a:prstGeom prst="rect">
            <a:avLst/>
          </a:prstGeom>
          <a:noFill/>
          <a:ln/>
        </p:spPr>
        <p:txBody>
          <a:bodyPr wrap="square" lIns="0" tIns="0" rIns="0" bIns="0" rtlCol="0" anchor="t"/>
          <a:lstStyle/>
          <a:p>
            <a:pPr marL="0" indent="0">
              <a:buNone/>
            </a:pPr>
            <a:r>
              <a:rPr lang="en-US" sz="1400" b="1" dirty="0">
                <a:solidFill>
                  <a:schemeClr val="tx1"/>
                </a:solidFill>
              </a:rPr>
              <a:t>Pérdida (F1)</a:t>
            </a:r>
            <a:endParaRPr lang="en-US" sz="1400" dirty="0"/>
          </a:p>
          <a:p>
            <a:pPr marL="0" indent="0">
              <a:buNone/>
            </a:pPr>
            <a:r>
              <a:rPr lang="en-US" sz="1400" dirty="0">
                <a:solidFill>
                  <a:schemeClr val="tx1"/>
                </a:solidFill>
              </a:rPr>
              <a:t>BCE 0,452 · MSE 0,453</a:t>
            </a:r>
            <a:endParaRPr lang="en-US" sz="1400" dirty="0"/>
          </a:p>
        </p:txBody>
      </p:sp>
      <p:sp>
        <p:nvSpPr>
          <p:cNvPr id="8" name="Shape 5"/>
          <p:cNvSpPr/>
          <p:nvPr/>
        </p:nvSpPr>
        <p:spPr>
          <a:xfrm>
            <a:off x="6080760" y="3611880"/>
            <a:ext cx="2606040" cy="1005840"/>
          </a:xfrm>
          <a:prstGeom prst="roundRect">
            <a:avLst>
              <a:gd name="adj" fmla="val 7273"/>
            </a:avLst>
          </a:prstGeom>
          <a:solidFill>
            <a:schemeClr val="accent1"/>
          </a:solidFill>
          <a:ln w="12700">
            <a:solidFill>
              <a:schemeClr val="accent1"/>
            </a:solidFill>
            <a:prstDash val="solid"/>
          </a:ln>
        </p:spPr>
        <p:txBody>
          <a:bodyPr/>
          <a:lstStyle/>
          <a:p>
            <a:endParaRPr lang="es-MX"/>
          </a:p>
        </p:txBody>
      </p:sp>
      <p:sp>
        <p:nvSpPr>
          <p:cNvPr id="9" name="Text 6"/>
          <p:cNvSpPr txBox="1"/>
          <p:nvPr/>
        </p:nvSpPr>
        <p:spPr>
          <a:xfrm>
            <a:off x="6263640" y="3685032"/>
            <a:ext cx="2240280" cy="859536"/>
          </a:xfrm>
          <a:prstGeom prst="rect">
            <a:avLst/>
          </a:prstGeom>
          <a:noFill/>
          <a:ln/>
        </p:spPr>
        <p:txBody>
          <a:bodyPr wrap="square" lIns="0" tIns="0" rIns="0" bIns="0" rtlCol="0" anchor="t"/>
          <a:lstStyle/>
          <a:p>
            <a:pPr marL="0" indent="0">
              <a:buNone/>
            </a:pPr>
            <a:r>
              <a:rPr lang="en-US" sz="1400" b="1" dirty="0">
                <a:solidFill>
                  <a:schemeClr val="bg1"/>
                </a:solidFill>
              </a:rPr>
              <a:t>Decisión</a:t>
            </a:r>
            <a:endParaRPr lang="en-US" sz="1400" dirty="0"/>
          </a:p>
          <a:p>
            <a:pPr marL="0" indent="0">
              <a:buNone/>
            </a:pPr>
            <a:r>
              <a:rPr lang="en-US" sz="1400" dirty="0">
                <a:solidFill>
                  <a:schemeClr val="bg1"/>
                </a:solidFill>
              </a:rPr>
              <a:t>ReLU + BCE</a:t>
            </a:r>
            <a:endParaRPr lang="en-US" sz="14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B6C"/>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Tasa, batch, épocas y capas</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2606040"/>
        </p:xfrm>
        <a:graphic>
          <a:graphicData uri="http://schemas.openxmlformats.org/drawingml/2006/table">
            <a:tbl>
              <a:tblPr/>
              <a:tblGrid>
                <a:gridCol w="201168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tblGrid>
              <a:tr h="411480">
                <a:tc>
                  <a:txBody>
                    <a:bodyPr/>
                    <a:lstStyle/>
                    <a:p>
                      <a:pPr marL="0" indent="0">
                        <a:buNone/>
                      </a:pPr>
                      <a:r>
                        <a:rPr lang="en-US" sz="1300" b="1" dirty="0">
                          <a:solidFill>
                            <a:srgbClr val="FFFFFF"/>
                          </a:solidFill>
                        </a:rPr>
                        <a:t>Parámetro</a:t>
                      </a:r>
                      <a:endParaRPr lang="en-US" sz="1300" dirty="0"/>
                    </a:p>
                  </a:txBody>
                  <a:tcPr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14213D"/>
                    </a:solidFill>
                  </a:tcPr>
                </a:tc>
                <a:tc>
                  <a:txBody>
                    <a:bodyPr/>
                    <a:lstStyle/>
                    <a:p>
                      <a:pPr marL="0" indent="0">
                        <a:buNone/>
                      </a:pPr>
                      <a:r>
                        <a:rPr lang="en-US" sz="1300" b="1" dirty="0">
                          <a:solidFill>
                            <a:srgbClr val="FFFFFF"/>
                          </a:solidFill>
                        </a:rPr>
                        <a:t>F1 a umbral 0,5</a:t>
                      </a:r>
                      <a:endParaRPr lang="en-US" sz="1300" dirty="0"/>
                    </a:p>
                  </a:txBody>
                  <a:tcPr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14213D"/>
                    </a:solidFill>
                  </a:tcPr>
                </a:tc>
                <a:tc>
                  <a:txBody>
                    <a:bodyPr/>
                    <a:lstStyle/>
                    <a:p>
                      <a:pPr marL="0" indent="0">
                        <a:buNone/>
                      </a:pPr>
                      <a:r>
                        <a:rPr lang="en-US" sz="1300" b="1" dirty="0">
                          <a:solidFill>
                            <a:srgbClr val="FFFFFF"/>
                          </a:solidFill>
                        </a:rPr>
                        <a:t>Decisión</a:t>
                      </a:r>
                      <a:endParaRPr lang="en-US" sz="1300" dirty="0"/>
                    </a:p>
                  </a:txBody>
                  <a:tcPr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548640">
                <a:tc>
                  <a:txBody>
                    <a:bodyPr/>
                    <a:lstStyle/>
                    <a:p>
                      <a:pPr marL="0" indent="0">
                        <a:buNone/>
                      </a:pPr>
                      <a:r>
                        <a:rPr lang="en-US" sz="1300" b="1" dirty="0">
                          <a:solidFill>
                            <a:srgbClr val="14213D"/>
                          </a:solidFill>
                        </a:rPr>
                        <a:t>Tasa de aprendizaje</a:t>
                      </a:r>
                      <a:endParaRPr lang="en-US" sz="1300" dirty="0"/>
                    </a:p>
                  </a:txBody>
                  <a:tcPr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tcPr>
                </a:tc>
                <a:tc>
                  <a:txBody>
                    <a:bodyPr/>
                    <a:lstStyle/>
                    <a:p>
                      <a:pPr marL="0" indent="0">
                        <a:buNone/>
                      </a:pPr>
                      <a:r>
                        <a:rPr lang="en-US" sz="1300" dirty="0">
                          <a:solidFill>
                            <a:srgbClr val="14213D"/>
                          </a:solidFill>
                        </a:rPr>
                        <a:t>0,01: 0,444 · 0,001: 0,452 · 0,0001: 0,399</a:t>
                      </a:r>
                      <a:endParaRPr lang="en-US" sz="1300" dirty="0"/>
                    </a:p>
                  </a:txBody>
                  <a:tcPr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tcPr>
                </a:tc>
                <a:tc>
                  <a:txBody>
                    <a:bodyPr/>
                    <a:lstStyle/>
                    <a:p>
                      <a:pPr marL="0" indent="0">
                        <a:buNone/>
                      </a:pPr>
                      <a:r>
                        <a:rPr lang="en-US" sz="1300" dirty="0">
                          <a:solidFill>
                            <a:srgbClr val="14213D"/>
                          </a:solidFill>
                        </a:rPr>
                        <a:t>0,001</a:t>
                      </a:r>
                      <a:endParaRPr lang="en-US" sz="1300" dirty="0"/>
                    </a:p>
                  </a:txBody>
                  <a:tcPr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buNone/>
                      </a:pPr>
                      <a:r>
                        <a:rPr lang="en-US" sz="1300" b="1" dirty="0">
                          <a:solidFill>
                            <a:srgbClr val="14213D"/>
                          </a:solidFill>
                        </a:rPr>
                        <a:t>Batch</a:t>
                      </a:r>
                      <a:endParaRPr lang="en-US" sz="1300" dirty="0"/>
                    </a:p>
                  </a:txBody>
                  <a:tcPr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marL="0" indent="0">
                        <a:buNone/>
                      </a:pPr>
                      <a:r>
                        <a:rPr lang="en-US" sz="1300" dirty="0">
                          <a:solidFill>
                            <a:srgbClr val="14213D"/>
                          </a:solidFill>
                        </a:rPr>
                        <a:t>64: 0,461 · 256: 0,452 · 512: 0,434</a:t>
                      </a:r>
                      <a:endParaRPr lang="en-US" sz="1300" dirty="0"/>
                    </a:p>
                  </a:txBody>
                  <a:tcPr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marL="0" indent="0">
                        <a:buNone/>
                      </a:pPr>
                      <a:r>
                        <a:rPr lang="en-US" sz="1300" dirty="0">
                          <a:solidFill>
                            <a:srgbClr val="14213D"/>
                          </a:solidFill>
                        </a:rPr>
                        <a:t>256 (64 en el ajuste)</a:t>
                      </a:r>
                      <a:endParaRPr lang="en-US" sz="1300" dirty="0"/>
                    </a:p>
                  </a:txBody>
                  <a:tcPr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extLst>
                  <a:ext uri="{0D108BD9-81ED-4DB2-BD59-A6C34878D82A}">
                    <a16:rowId xmlns:a16="http://schemas.microsoft.com/office/drawing/2014/main" val="10002"/>
                  </a:ext>
                </a:extLst>
              </a:tr>
              <a:tr h="548640">
                <a:tc>
                  <a:txBody>
                    <a:bodyPr/>
                    <a:lstStyle/>
                    <a:p>
                      <a:pPr marL="0" indent="0">
                        <a:buNone/>
                      </a:pPr>
                      <a:r>
                        <a:rPr lang="en-US" sz="1300" b="1" dirty="0">
                          <a:solidFill>
                            <a:srgbClr val="14213D"/>
                          </a:solidFill>
                        </a:rPr>
                        <a:t>Épocas</a:t>
                      </a:r>
                      <a:endParaRPr lang="en-US" sz="1300" dirty="0"/>
                    </a:p>
                  </a:txBody>
                  <a:tcPr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tcPr>
                </a:tc>
                <a:tc>
                  <a:txBody>
                    <a:bodyPr/>
                    <a:lstStyle/>
                    <a:p>
                      <a:pPr marL="0" indent="0">
                        <a:buNone/>
                      </a:pPr>
                      <a:r>
                        <a:rPr lang="en-US" sz="1300" dirty="0">
                          <a:solidFill>
                            <a:srgbClr val="14213D"/>
                          </a:solidFill>
                        </a:rPr>
                        <a:t>5: 0,433 · 15: 0,454 · 30: 0,448</a:t>
                      </a:r>
                      <a:endParaRPr lang="en-US" sz="1300" dirty="0"/>
                    </a:p>
                  </a:txBody>
                  <a:tcPr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tcPr>
                </a:tc>
                <a:tc>
                  <a:txBody>
                    <a:bodyPr/>
                    <a:lstStyle/>
                    <a:p>
                      <a:pPr marL="0" indent="0">
                        <a:buNone/>
                      </a:pPr>
                      <a:r>
                        <a:rPr lang="en-US" sz="1300" dirty="0">
                          <a:solidFill>
                            <a:srgbClr val="14213D"/>
                          </a:solidFill>
                        </a:rPr>
                        <a:t>20 + EarlyStopping</a:t>
                      </a:r>
                      <a:endParaRPr lang="en-US" sz="1300" dirty="0"/>
                    </a:p>
                  </a:txBody>
                  <a:tcPr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buNone/>
                      </a:pPr>
                      <a:r>
                        <a:rPr lang="en-US" sz="1300" b="1" dirty="0">
                          <a:solidFill>
                            <a:srgbClr val="14213D"/>
                          </a:solidFill>
                        </a:rPr>
                        <a:t>Arquitectura</a:t>
                      </a:r>
                      <a:endParaRPr lang="en-US" sz="1300" dirty="0"/>
                    </a:p>
                  </a:txBody>
                  <a:tcPr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marL="0" indent="0">
                        <a:buNone/>
                      </a:pPr>
                      <a:r>
                        <a:rPr lang="en-US" sz="1300" dirty="0">
                          <a:solidFill>
                            <a:srgbClr val="14213D"/>
                          </a:solidFill>
                        </a:rPr>
                        <a:t>32: 0,424 · 64-32: 0,452 · 128-64-32: 0,447</a:t>
                      </a:r>
                      <a:endParaRPr lang="en-US" sz="1300" dirty="0"/>
                    </a:p>
                  </a:txBody>
                  <a:tcPr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marL="0" indent="0">
                        <a:buNone/>
                      </a:pPr>
                      <a:r>
                        <a:rPr lang="en-US" sz="1300" dirty="0">
                          <a:solidFill>
                            <a:srgbClr val="14213D"/>
                          </a:solidFill>
                        </a:rPr>
                        <a:t>64-32</a:t>
                      </a:r>
                      <a:endParaRPr lang="en-US" sz="1300" dirty="0"/>
                    </a:p>
                  </a:txBody>
                  <a:tcPr marT="36576" marB="36576"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extLst>
                  <a:ext uri="{0D108BD9-81ED-4DB2-BD59-A6C34878D82A}">
                    <a16:rowId xmlns:a16="http://schemas.microsoft.com/office/drawing/2014/main" val="10004"/>
                  </a:ext>
                </a:extLst>
              </a:tr>
            </a:tbl>
          </a:graphicData>
        </a:graphic>
      </p:graphicFrame>
      <p:sp>
        <p:nvSpPr>
          <p:cNvPr id="4" name="Shape 1"/>
          <p:cNvSpPr/>
          <p:nvPr/>
        </p:nvSpPr>
        <p:spPr>
          <a:xfrm>
            <a:off x="457200" y="3886200"/>
            <a:ext cx="8229600" cy="777240"/>
          </a:xfrm>
          <a:prstGeom prst="roundRect">
            <a:avLst>
              <a:gd name="adj" fmla="val 9412"/>
            </a:avLst>
          </a:prstGeom>
          <a:solidFill>
            <a:schemeClr val="bg2"/>
          </a:solidFill>
          <a:ln w="12700">
            <a:solidFill>
              <a:schemeClr val="bg2"/>
            </a:solidFill>
            <a:prstDash val="solid"/>
          </a:ln>
        </p:spPr>
        <p:txBody>
          <a:bodyPr/>
          <a:lstStyle/>
          <a:p>
            <a:endParaRPr lang="es-MX"/>
          </a:p>
        </p:txBody>
      </p:sp>
      <p:sp>
        <p:nvSpPr>
          <p:cNvPr id="5" name="Text 2"/>
          <p:cNvSpPr txBox="1"/>
          <p:nvPr/>
        </p:nvSpPr>
        <p:spPr>
          <a:xfrm>
            <a:off x="640080" y="3959352"/>
            <a:ext cx="7863840" cy="630936"/>
          </a:xfrm>
          <a:prstGeom prst="rect">
            <a:avLst/>
          </a:prstGeom>
          <a:noFill/>
          <a:ln/>
        </p:spPr>
        <p:txBody>
          <a:bodyPr wrap="square" lIns="0" tIns="0" rIns="0" bIns="0" rtlCol="0" anchor="t"/>
          <a:lstStyle/>
          <a:p>
            <a:pPr marL="0" indent="0">
              <a:buNone/>
            </a:pPr>
            <a:r>
              <a:rPr lang="en-US" sz="1400" b="1" dirty="0">
                <a:solidFill>
                  <a:schemeClr val="tx1"/>
                </a:solidFill>
              </a:rPr>
              <a:t>Mismo F1 óptimo (0,47–0,49), distinto F1 a 0,5</a:t>
            </a:r>
            <a:endParaRPr lang="en-US" sz="1400" dirty="0"/>
          </a:p>
          <a:p>
            <a:pPr marL="0" indent="0">
              <a:buNone/>
            </a:pPr>
            <a:r>
              <a:rPr lang="en-US" sz="1400" dirty="0">
                <a:solidFill>
                  <a:schemeClr val="tx1"/>
                </a:solidFill>
              </a:rPr>
              <a:t>Estos parámetros cambian la calibración de las probabilidades, no la capacidad de discriminar.</a:t>
            </a:r>
            <a:endParaRPr lang="en-US" sz="14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B6C"/>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Regularización</a:t>
            </a:r>
            <a:endParaRPr lang="en-US" sz="2800" dirty="0"/>
          </a:p>
        </p:txBody>
      </p:sp>
      <p:pic>
        <p:nvPicPr>
          <p:cNvPr id="3" name="Image 0" descr="Comparación de técnicas de regularización: curvas de pérdida y métricas"/>
          <p:cNvPicPr>
            <a:picLocks noChangeAspect="1"/>
          </p:cNvPicPr>
          <p:nvPr/>
        </p:nvPicPr>
        <p:blipFill>
          <a:blip r:embed="rId3"/>
          <a:stretch>
            <a:fillRect/>
          </a:stretch>
        </p:blipFill>
        <p:spPr>
          <a:xfrm>
            <a:off x="457200" y="960120"/>
            <a:ext cx="8229600" cy="2489949"/>
          </a:xfrm>
          <a:prstGeom prst="rect">
            <a:avLst/>
          </a:prstGeom>
        </p:spPr>
      </p:pic>
      <p:sp>
        <p:nvSpPr>
          <p:cNvPr id="4" name="Shape 1"/>
          <p:cNvSpPr/>
          <p:nvPr/>
        </p:nvSpPr>
        <p:spPr>
          <a:xfrm>
            <a:off x="457200" y="3611880"/>
            <a:ext cx="3977640" cy="1005840"/>
          </a:xfrm>
          <a:prstGeom prst="roundRect">
            <a:avLst>
              <a:gd name="adj" fmla="val 7273"/>
            </a:avLst>
          </a:prstGeom>
          <a:solidFill>
            <a:schemeClr val="bg2"/>
          </a:solidFill>
          <a:ln w="12700">
            <a:solidFill>
              <a:schemeClr val="bg2"/>
            </a:solidFill>
            <a:prstDash val="solid"/>
          </a:ln>
        </p:spPr>
        <p:txBody>
          <a:bodyPr/>
          <a:lstStyle/>
          <a:p>
            <a:endParaRPr lang="es-MX"/>
          </a:p>
        </p:txBody>
      </p:sp>
      <p:sp>
        <p:nvSpPr>
          <p:cNvPr id="5" name="Text 2"/>
          <p:cNvSpPr txBox="1"/>
          <p:nvPr/>
        </p:nvSpPr>
        <p:spPr>
          <a:xfrm>
            <a:off x="640080" y="3685032"/>
            <a:ext cx="3611880" cy="859536"/>
          </a:xfrm>
          <a:prstGeom prst="rect">
            <a:avLst/>
          </a:prstGeom>
          <a:noFill/>
          <a:ln/>
        </p:spPr>
        <p:txBody>
          <a:bodyPr wrap="square" lIns="0" tIns="0" rIns="0" bIns="0" rtlCol="0" anchor="t"/>
          <a:lstStyle/>
          <a:p>
            <a:pPr marL="0" indent="0">
              <a:buNone/>
            </a:pPr>
            <a:r>
              <a:rPr lang="en-US" sz="1400" b="1" dirty="0">
                <a:solidFill>
                  <a:schemeClr val="tx1"/>
                </a:solidFill>
              </a:rPr>
              <a:t>Resultado (F1)</a:t>
            </a:r>
            <a:endParaRPr lang="en-US" sz="1400" dirty="0"/>
          </a:p>
          <a:p>
            <a:pPr marL="0" indent="0">
              <a:buNone/>
            </a:pPr>
            <a:r>
              <a:rPr lang="en-US" sz="1400" dirty="0">
                <a:solidFill>
                  <a:schemeClr val="tx1"/>
                </a:solidFill>
              </a:rPr>
              <a:t>Base 0,452 · L2 0,459 · Dropout 0,442 · BatchNorm 0,425 · Combinación 0,409</a:t>
            </a:r>
            <a:endParaRPr lang="en-US" sz="1400" dirty="0"/>
          </a:p>
        </p:txBody>
      </p:sp>
      <p:sp>
        <p:nvSpPr>
          <p:cNvPr id="6" name="Shape 3"/>
          <p:cNvSpPr/>
          <p:nvPr/>
        </p:nvSpPr>
        <p:spPr>
          <a:xfrm>
            <a:off x="4709160" y="3611880"/>
            <a:ext cx="3977640" cy="1005840"/>
          </a:xfrm>
          <a:prstGeom prst="roundRect">
            <a:avLst>
              <a:gd name="adj" fmla="val 7273"/>
            </a:avLst>
          </a:prstGeom>
          <a:solidFill>
            <a:schemeClr val="accent1"/>
          </a:solidFill>
          <a:ln w="12700">
            <a:solidFill>
              <a:schemeClr val="accent1"/>
            </a:solidFill>
            <a:prstDash val="solid"/>
          </a:ln>
        </p:spPr>
        <p:txBody>
          <a:bodyPr/>
          <a:lstStyle/>
          <a:p>
            <a:endParaRPr lang="es-MX"/>
          </a:p>
        </p:txBody>
      </p:sp>
      <p:sp>
        <p:nvSpPr>
          <p:cNvPr id="7" name="Text 4"/>
          <p:cNvSpPr txBox="1"/>
          <p:nvPr/>
        </p:nvSpPr>
        <p:spPr>
          <a:xfrm>
            <a:off x="4892040" y="3685032"/>
            <a:ext cx="3611880" cy="859536"/>
          </a:xfrm>
          <a:prstGeom prst="rect">
            <a:avLst/>
          </a:prstGeom>
          <a:noFill/>
          <a:ln/>
        </p:spPr>
        <p:txBody>
          <a:bodyPr wrap="square" lIns="0" tIns="0" rIns="0" bIns="0" rtlCol="0" anchor="t"/>
          <a:lstStyle/>
          <a:p>
            <a:pPr marL="0" indent="0">
              <a:buNone/>
            </a:pPr>
            <a:r>
              <a:rPr lang="en-US" sz="1400" b="1" dirty="0">
                <a:solidFill>
                  <a:schemeClr val="bg1"/>
                </a:solidFill>
              </a:rPr>
              <a:t>Por qué</a:t>
            </a:r>
            <a:endParaRPr lang="en-US" sz="1400" dirty="0"/>
          </a:p>
          <a:p>
            <a:pPr marL="0" indent="0">
              <a:buNone/>
            </a:pPr>
            <a:r>
              <a:rPr lang="en-US" sz="1400" dirty="0">
                <a:solidFill>
                  <a:schemeClr val="bg1"/>
                </a:solidFill>
              </a:rPr>
              <a:t>El base no sobreajusta: su pérdida de validación sigue bajando en la época 20.</a:t>
            </a:r>
            <a:endParaRPr lang="en-US" sz="14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B6C"/>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Ajuste conjunto de hiperparámetros</a:t>
            </a:r>
            <a:endParaRPr lang="en-US" sz="2800" dirty="0"/>
          </a:p>
        </p:txBody>
      </p:sp>
      <p:sp>
        <p:nvSpPr>
          <p:cNvPr id="3" name="Shape 1"/>
          <p:cNvSpPr/>
          <p:nvPr/>
        </p:nvSpPr>
        <p:spPr>
          <a:xfrm>
            <a:off x="457200" y="1051560"/>
            <a:ext cx="3749040" cy="2011680"/>
          </a:xfrm>
          <a:prstGeom prst="roundRect">
            <a:avLst>
              <a:gd name="adj" fmla="val 3636"/>
            </a:avLst>
          </a:prstGeom>
          <a:solidFill>
            <a:schemeClr val="bg2"/>
          </a:solidFill>
          <a:ln w="12700">
            <a:solidFill>
              <a:schemeClr val="bg2"/>
            </a:solidFill>
            <a:prstDash val="solid"/>
          </a:ln>
        </p:spPr>
        <p:txBody>
          <a:bodyPr/>
          <a:lstStyle/>
          <a:p>
            <a:endParaRPr lang="es-MX"/>
          </a:p>
        </p:txBody>
      </p:sp>
      <p:sp>
        <p:nvSpPr>
          <p:cNvPr id="4" name="Shape 2"/>
          <p:cNvSpPr/>
          <p:nvPr/>
        </p:nvSpPr>
        <p:spPr>
          <a:xfrm>
            <a:off x="621792" y="1216152"/>
            <a:ext cx="457200" cy="457200"/>
          </a:xfrm>
          <a:prstGeom prst="ellipse">
            <a:avLst/>
          </a:prstGeom>
          <a:solidFill>
            <a:schemeClr val="accent1"/>
          </a:solidFill>
          <a:ln w="12700">
            <a:solidFill>
              <a:schemeClr val="accent1"/>
            </a:solidFill>
            <a:prstDash val="solid"/>
          </a:ln>
        </p:spPr>
        <p:txBody>
          <a:bodyPr/>
          <a:lstStyle/>
          <a:p>
            <a:endParaRPr lang="es-MX"/>
          </a:p>
        </p:txBody>
      </p:sp>
      <p:pic>
        <p:nvPicPr>
          <p:cNvPr id="5" name="Image 0" descr="preencoded.png"/>
          <p:cNvPicPr>
            <a:picLocks noChangeAspect="1"/>
          </p:cNvPicPr>
          <p:nvPr/>
        </p:nvPicPr>
        <p:blipFill>
          <a:blip r:embed="rId3"/>
          <a:stretch>
            <a:fillRect/>
          </a:stretch>
        </p:blipFill>
        <p:spPr>
          <a:xfrm>
            <a:off x="722376" y="1316736"/>
            <a:ext cx="256032" cy="256032"/>
          </a:xfrm>
          <a:prstGeom prst="rect">
            <a:avLst/>
          </a:prstGeom>
        </p:spPr>
      </p:pic>
      <p:sp>
        <p:nvSpPr>
          <p:cNvPr id="6" name="Text 3"/>
          <p:cNvSpPr txBox="1"/>
          <p:nvPr/>
        </p:nvSpPr>
        <p:spPr>
          <a:xfrm>
            <a:off x="1234440" y="1124712"/>
            <a:ext cx="2788920" cy="1865376"/>
          </a:xfrm>
          <a:prstGeom prst="rect">
            <a:avLst/>
          </a:prstGeom>
          <a:noFill/>
          <a:ln/>
        </p:spPr>
        <p:txBody>
          <a:bodyPr wrap="square" lIns="0" tIns="0" rIns="0" bIns="0" rtlCol="0" anchor="t"/>
          <a:lstStyle/>
          <a:p>
            <a:pPr marL="0" indent="0">
              <a:buNone/>
            </a:pPr>
            <a:r>
              <a:rPr lang="en-US" sz="1400" b="1" dirty="0">
                <a:solidFill>
                  <a:schemeClr val="tx1"/>
                </a:solidFill>
              </a:rPr>
              <a:t>Grilla de 12 combinaciones</a:t>
            </a:r>
            <a:endParaRPr lang="en-US" sz="1400" dirty="0"/>
          </a:p>
          <a:p>
            <a:pPr marL="0" indent="0">
              <a:buNone/>
            </a:pPr>
            <a:r>
              <a:rPr lang="en-US" sz="1400" dirty="0">
                <a:solidFill>
                  <a:schemeClr val="tx1"/>
                </a:solidFill>
              </a:rPr>
              <a:t>Ganadora: lr 0,001 · batch 64 · dropout 0,3 · capas 128-64-32. Criterio: F1 óptimo en validación.</a:t>
            </a:r>
            <a:endParaRPr lang="en-US" sz="1400" dirty="0"/>
          </a:p>
        </p:txBody>
      </p:sp>
      <p:pic>
        <p:nvPicPr>
          <p:cNvPr id="7" name="Image 1" descr="Base frente a ajustado: media y desviación en 5 semillas"/>
          <p:cNvPicPr>
            <a:picLocks noChangeAspect="1"/>
          </p:cNvPicPr>
          <p:nvPr/>
        </p:nvPicPr>
        <p:blipFill>
          <a:blip r:embed="rId4"/>
          <a:stretch>
            <a:fillRect/>
          </a:stretch>
        </p:blipFill>
        <p:spPr>
          <a:xfrm>
            <a:off x="4389120" y="1005840"/>
            <a:ext cx="4297680" cy="2121639"/>
          </a:xfrm>
          <a:prstGeom prst="rect">
            <a:avLst/>
          </a:prstGeom>
        </p:spPr>
      </p:pic>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3429000"/>
          <a:ext cx="8229600" cy="1316736"/>
        </p:xfrm>
        <a:graphic>
          <a:graphicData uri="http://schemas.openxmlformats.org/drawingml/2006/table">
            <a:tbl>
              <a:tblPr/>
              <a:tblGrid>
                <a:gridCol w="21945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tblGrid>
              <a:tr h="329184">
                <a:tc>
                  <a:txBody>
                    <a:bodyPr/>
                    <a:lstStyle/>
                    <a:p>
                      <a:pPr marL="0" indent="0">
                        <a:buNone/>
                      </a:pPr>
                      <a:r>
                        <a:rPr lang="en-US" sz="1300" b="1" dirty="0">
                          <a:solidFill>
                            <a:srgbClr val="FFFFFF"/>
                          </a:solidFill>
                        </a:rPr>
                        <a:t>Validación, 5 semillas</a:t>
                      </a:r>
                      <a:endParaRPr lang="en-US" sz="1300" dirty="0"/>
                    </a:p>
                  </a:txBody>
                  <a:tcPr marT="27432" marB="2743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14213D"/>
                    </a:solidFill>
                  </a:tcPr>
                </a:tc>
                <a:tc>
                  <a:txBody>
                    <a:bodyPr/>
                    <a:lstStyle/>
                    <a:p>
                      <a:pPr marL="0" indent="0">
                        <a:buNone/>
                      </a:pPr>
                      <a:r>
                        <a:rPr lang="en-US" sz="1300" b="1" dirty="0">
                          <a:solidFill>
                            <a:srgbClr val="FFFFFF"/>
                          </a:solidFill>
                        </a:rPr>
                        <a:t>Base</a:t>
                      </a:r>
                      <a:endParaRPr lang="en-US" sz="1300" dirty="0"/>
                    </a:p>
                  </a:txBody>
                  <a:tcPr marT="27432" marB="2743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14213D"/>
                    </a:solidFill>
                  </a:tcPr>
                </a:tc>
                <a:tc>
                  <a:txBody>
                    <a:bodyPr/>
                    <a:lstStyle/>
                    <a:p>
                      <a:pPr marL="0" indent="0">
                        <a:buNone/>
                      </a:pPr>
                      <a:r>
                        <a:rPr lang="en-US" sz="1300" b="1" dirty="0">
                          <a:solidFill>
                            <a:srgbClr val="FFFFFF"/>
                          </a:solidFill>
                        </a:rPr>
                        <a:t>Ajustado</a:t>
                      </a:r>
                      <a:endParaRPr lang="en-US" sz="1300" dirty="0"/>
                    </a:p>
                  </a:txBody>
                  <a:tcPr marT="27432" marB="2743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14213D"/>
                    </a:solidFill>
                  </a:tcPr>
                </a:tc>
                <a:tc>
                  <a:txBody>
                    <a:bodyPr/>
                    <a:lstStyle/>
                    <a:p>
                      <a:pPr marL="0" indent="0">
                        <a:buNone/>
                      </a:pPr>
                      <a:r>
                        <a:rPr lang="en-US" sz="1300" b="1" dirty="0">
                          <a:solidFill>
                            <a:srgbClr val="FFFFFF"/>
                          </a:solidFill>
                        </a:rPr>
                        <a:t>Lectura</a:t>
                      </a:r>
                      <a:endParaRPr lang="en-US" sz="1300" dirty="0"/>
                    </a:p>
                  </a:txBody>
                  <a:tcPr marT="27432" marB="2743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29184">
                <a:tc>
                  <a:txBody>
                    <a:bodyPr/>
                    <a:lstStyle/>
                    <a:p>
                      <a:pPr marL="0" indent="0">
                        <a:buNone/>
                      </a:pPr>
                      <a:r>
                        <a:rPr lang="en-US" sz="1300" b="1" dirty="0">
                          <a:solidFill>
                            <a:srgbClr val="14213D"/>
                          </a:solidFill>
                        </a:rPr>
                        <a:t>F1 a umbral 0,5</a:t>
                      </a:r>
                      <a:endParaRPr lang="en-US" sz="1300" dirty="0"/>
                    </a:p>
                  </a:txBody>
                  <a:tcPr marT="27432" marB="2743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tcPr>
                </a:tc>
                <a:tc>
                  <a:txBody>
                    <a:bodyPr/>
                    <a:lstStyle/>
                    <a:p>
                      <a:pPr marL="0" indent="0">
                        <a:buNone/>
                      </a:pPr>
                      <a:r>
                        <a:rPr lang="en-US" sz="1300" dirty="0">
                          <a:solidFill>
                            <a:srgbClr val="14213D"/>
                          </a:solidFill>
                        </a:rPr>
                        <a:t>0,410 ± 0,012</a:t>
                      </a:r>
                      <a:endParaRPr lang="en-US" sz="1300" dirty="0"/>
                    </a:p>
                  </a:txBody>
                  <a:tcPr marT="27432" marB="2743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tcPr>
                </a:tc>
                <a:tc>
                  <a:txBody>
                    <a:bodyPr/>
                    <a:lstStyle/>
                    <a:p>
                      <a:pPr marL="0" indent="0">
                        <a:buNone/>
                      </a:pPr>
                      <a:r>
                        <a:rPr lang="en-US" sz="1300" dirty="0">
                          <a:solidFill>
                            <a:srgbClr val="14213D"/>
                          </a:solidFill>
                        </a:rPr>
                        <a:t>0,433 ± 0,007</a:t>
                      </a:r>
                      <a:endParaRPr lang="en-US" sz="1300" dirty="0"/>
                    </a:p>
                  </a:txBody>
                  <a:tcPr marT="27432" marB="2743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tcPr>
                </a:tc>
                <a:tc>
                  <a:txBody>
                    <a:bodyPr/>
                    <a:lstStyle/>
                    <a:p>
                      <a:pPr marL="0" indent="0">
                        <a:buNone/>
                      </a:pPr>
                      <a:r>
                        <a:rPr lang="en-US" sz="1300" dirty="0">
                          <a:solidFill>
                            <a:srgbClr val="14213D"/>
                          </a:solidFill>
                        </a:rPr>
                        <a:t>Mejora real</a:t>
                      </a:r>
                      <a:endParaRPr lang="en-US" sz="1300" dirty="0"/>
                    </a:p>
                  </a:txBody>
                  <a:tcPr marT="27432" marB="2743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buNone/>
                      </a:pPr>
                      <a:r>
                        <a:rPr lang="en-US" sz="1300" b="1" dirty="0">
                          <a:solidFill>
                            <a:srgbClr val="14213D"/>
                          </a:solidFill>
                        </a:rPr>
                        <a:t>F1 óptimo</a:t>
                      </a:r>
                      <a:endParaRPr lang="en-US" sz="1300" dirty="0"/>
                    </a:p>
                  </a:txBody>
                  <a:tcPr marT="27432" marB="2743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marL="0" indent="0">
                        <a:buNone/>
                      </a:pPr>
                      <a:r>
                        <a:rPr lang="en-US" sz="1300" dirty="0">
                          <a:solidFill>
                            <a:srgbClr val="14213D"/>
                          </a:solidFill>
                        </a:rPr>
                        <a:t>0,490 ± 0,004</a:t>
                      </a:r>
                      <a:endParaRPr lang="en-US" sz="1300" dirty="0"/>
                    </a:p>
                  </a:txBody>
                  <a:tcPr marT="27432" marB="2743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marL="0" indent="0">
                        <a:buNone/>
                      </a:pPr>
                      <a:r>
                        <a:rPr lang="en-US" sz="1300" dirty="0">
                          <a:solidFill>
                            <a:srgbClr val="14213D"/>
                          </a:solidFill>
                        </a:rPr>
                        <a:t>0,494 ± 0,005</a:t>
                      </a:r>
                      <a:endParaRPr lang="en-US" sz="1300" dirty="0"/>
                    </a:p>
                  </a:txBody>
                  <a:tcPr marT="27432" marB="2743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tc>
                  <a:txBody>
                    <a:bodyPr/>
                    <a:lstStyle/>
                    <a:p>
                      <a:pPr marL="0" indent="0">
                        <a:buNone/>
                      </a:pPr>
                      <a:r>
                        <a:rPr lang="en-US" sz="1300" dirty="0">
                          <a:solidFill>
                            <a:srgbClr val="14213D"/>
                          </a:solidFill>
                        </a:rPr>
                        <a:t>Dentro del ruido</a:t>
                      </a:r>
                      <a:endParaRPr lang="en-US" sz="1300" dirty="0"/>
                    </a:p>
                  </a:txBody>
                  <a:tcPr marT="27432" marB="2743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EEF3F7"/>
                    </a:solidFill>
                  </a:tcPr>
                </a:tc>
                <a:extLst>
                  <a:ext uri="{0D108BD9-81ED-4DB2-BD59-A6C34878D82A}">
                    <a16:rowId xmlns:a16="http://schemas.microsoft.com/office/drawing/2014/main" val="10002"/>
                  </a:ext>
                </a:extLst>
              </a:tr>
              <a:tr h="329184">
                <a:tc>
                  <a:txBody>
                    <a:bodyPr/>
                    <a:lstStyle/>
                    <a:p>
                      <a:pPr marL="0" indent="0">
                        <a:buNone/>
                      </a:pPr>
                      <a:r>
                        <a:rPr lang="en-US" sz="1300" b="1" dirty="0">
                          <a:solidFill>
                            <a:srgbClr val="14213D"/>
                          </a:solidFill>
                        </a:rPr>
                        <a:t>ROC-AUC</a:t>
                      </a:r>
                      <a:endParaRPr lang="en-US" sz="1300" dirty="0"/>
                    </a:p>
                  </a:txBody>
                  <a:tcPr marT="27432" marB="2743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tcPr>
                </a:tc>
                <a:tc>
                  <a:txBody>
                    <a:bodyPr/>
                    <a:lstStyle/>
                    <a:p>
                      <a:pPr marL="0" indent="0">
                        <a:buNone/>
                      </a:pPr>
                      <a:r>
                        <a:rPr lang="en-US" sz="1300" dirty="0">
                          <a:solidFill>
                            <a:srgbClr val="14213D"/>
                          </a:solidFill>
                        </a:rPr>
                        <a:t>0,794 ± 0,002</a:t>
                      </a:r>
                      <a:endParaRPr lang="en-US" sz="1300" dirty="0"/>
                    </a:p>
                  </a:txBody>
                  <a:tcPr marT="27432" marB="2743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tcPr>
                </a:tc>
                <a:tc>
                  <a:txBody>
                    <a:bodyPr/>
                    <a:lstStyle/>
                    <a:p>
                      <a:pPr marL="0" indent="0">
                        <a:buNone/>
                      </a:pPr>
                      <a:r>
                        <a:rPr lang="en-US" sz="1300" dirty="0">
                          <a:solidFill>
                            <a:srgbClr val="14213D"/>
                          </a:solidFill>
                        </a:rPr>
                        <a:t>0,797 ± 0,002</a:t>
                      </a:r>
                      <a:endParaRPr lang="en-US" sz="1300" dirty="0"/>
                    </a:p>
                  </a:txBody>
                  <a:tcPr marT="27432" marB="2743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tcPr>
                </a:tc>
                <a:tc>
                  <a:txBody>
                    <a:bodyPr/>
                    <a:lstStyle/>
                    <a:p>
                      <a:pPr marL="0" indent="0">
                        <a:buNone/>
                      </a:pPr>
                      <a:r>
                        <a:rPr lang="en-US" sz="1300" dirty="0">
                          <a:solidFill>
                            <a:srgbClr val="14213D"/>
                          </a:solidFill>
                        </a:rPr>
                        <a:t>Dentro del ruido</a:t>
                      </a:r>
                      <a:endParaRPr lang="en-US" sz="1300" dirty="0"/>
                    </a:p>
                  </a:txBody>
                  <a:tcPr marT="27432" marB="2743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B6C"/>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Umbral de decisión</a:t>
            </a:r>
            <a:endParaRPr lang="en-US" sz="2800" dirty="0"/>
          </a:p>
        </p:txBody>
      </p:sp>
      <p:pic>
        <p:nvPicPr>
          <p:cNvPr id="3" name="Image 0" descr="Precision, Recall y F1 según el umbral en validación"/>
          <p:cNvPicPr>
            <a:picLocks noChangeAspect="1"/>
          </p:cNvPicPr>
          <p:nvPr/>
        </p:nvPicPr>
        <p:blipFill>
          <a:blip r:embed="rId3"/>
          <a:stretch>
            <a:fillRect/>
          </a:stretch>
        </p:blipFill>
        <p:spPr>
          <a:xfrm>
            <a:off x="457200" y="1097280"/>
            <a:ext cx="4846320" cy="2392487"/>
          </a:xfrm>
          <a:prstGeom prst="rect">
            <a:avLst/>
          </a:prstGeom>
        </p:spPr>
      </p:pic>
      <p:sp>
        <p:nvSpPr>
          <p:cNvPr id="4" name="Shape 1"/>
          <p:cNvSpPr/>
          <p:nvPr/>
        </p:nvSpPr>
        <p:spPr>
          <a:xfrm>
            <a:off x="5532120" y="1097280"/>
            <a:ext cx="3154680" cy="2103120"/>
          </a:xfrm>
          <a:prstGeom prst="roundRect">
            <a:avLst>
              <a:gd name="adj" fmla="val 3478"/>
            </a:avLst>
          </a:prstGeom>
          <a:solidFill>
            <a:schemeClr val="tx1"/>
          </a:solidFill>
          <a:ln w="12700">
            <a:solidFill>
              <a:schemeClr val="tx1"/>
            </a:solidFill>
            <a:prstDash val="solid"/>
          </a:ln>
        </p:spPr>
        <p:txBody>
          <a:bodyPr/>
          <a:lstStyle/>
          <a:p>
            <a:endParaRPr lang="es-MX"/>
          </a:p>
        </p:txBody>
      </p:sp>
      <p:sp>
        <p:nvSpPr>
          <p:cNvPr id="5" name="Text 2"/>
          <p:cNvSpPr txBox="1"/>
          <p:nvPr/>
        </p:nvSpPr>
        <p:spPr>
          <a:xfrm>
            <a:off x="5715000" y="1216152"/>
            <a:ext cx="2788920" cy="320040"/>
          </a:xfrm>
          <a:prstGeom prst="rect">
            <a:avLst/>
          </a:prstGeom>
          <a:noFill/>
          <a:ln/>
        </p:spPr>
        <p:txBody>
          <a:bodyPr wrap="square" lIns="0" tIns="0" rIns="0" bIns="0" rtlCol="0" anchor="ctr"/>
          <a:lstStyle/>
          <a:p>
            <a:pPr marL="0" indent="0">
              <a:buNone/>
            </a:pPr>
            <a:r>
              <a:rPr lang="en-US" sz="1400" dirty="0">
                <a:solidFill>
                  <a:schemeClr val="bg2"/>
                </a:solidFill>
              </a:rPr>
              <a:t>F1 del base en prueba</a:t>
            </a:r>
            <a:endParaRPr lang="en-US" sz="1400" dirty="0"/>
          </a:p>
        </p:txBody>
      </p:sp>
      <p:sp>
        <p:nvSpPr>
          <p:cNvPr id="6" name="Text 3"/>
          <p:cNvSpPr txBox="1"/>
          <p:nvPr/>
        </p:nvSpPr>
        <p:spPr>
          <a:xfrm>
            <a:off x="5715000" y="1600200"/>
            <a:ext cx="2788920" cy="548640"/>
          </a:xfrm>
          <a:prstGeom prst="rect">
            <a:avLst/>
          </a:prstGeom>
          <a:noFill/>
          <a:ln/>
        </p:spPr>
        <p:txBody>
          <a:bodyPr wrap="square" lIns="0" tIns="0" rIns="0" bIns="0" rtlCol="0" anchor="ctr"/>
          <a:lstStyle/>
          <a:p>
            <a:pPr marL="0" indent="0">
              <a:buNone/>
            </a:pPr>
            <a:r>
              <a:rPr lang="en-US" sz="3000" b="1" dirty="0">
                <a:solidFill>
                  <a:schemeClr val="accent2"/>
                </a:solidFill>
                <a:latin typeface="Cambria" pitchFamily="34" charset="0"/>
                <a:ea typeface="Cambria" pitchFamily="34" charset="-122"/>
                <a:cs typeface="Cambria" pitchFamily="34" charset="-120"/>
              </a:rPr>
              <a:t>0,449 → 0,473</a:t>
            </a:r>
            <a:endParaRPr lang="en-US" sz="3000" dirty="0"/>
          </a:p>
        </p:txBody>
      </p:sp>
      <p:sp>
        <p:nvSpPr>
          <p:cNvPr id="7" name="Text 4"/>
          <p:cNvSpPr txBox="1"/>
          <p:nvPr/>
        </p:nvSpPr>
        <p:spPr>
          <a:xfrm>
            <a:off x="5715000" y="2240280"/>
            <a:ext cx="2788920" cy="731520"/>
          </a:xfrm>
          <a:prstGeom prst="rect">
            <a:avLst/>
          </a:prstGeom>
          <a:noFill/>
          <a:ln/>
        </p:spPr>
        <p:txBody>
          <a:bodyPr wrap="square" lIns="0" tIns="0" rIns="0" bIns="0" rtlCol="0" anchor="t"/>
          <a:lstStyle/>
          <a:p>
            <a:pPr marL="0" indent="0">
              <a:buNone/>
            </a:pPr>
            <a:r>
              <a:rPr lang="en-US" sz="1400" dirty="0">
                <a:solidFill>
                  <a:schemeClr val="bg1"/>
                </a:solidFill>
              </a:rPr>
              <a:t>al cambiar el umbral de 0,50 a 0,64, sin reentrenar.</a:t>
            </a:r>
            <a:endParaRPr lang="en-US" sz="1400" dirty="0"/>
          </a:p>
        </p:txBody>
      </p:sp>
      <p:sp>
        <p:nvSpPr>
          <p:cNvPr id="8" name="Shape 5"/>
          <p:cNvSpPr/>
          <p:nvPr/>
        </p:nvSpPr>
        <p:spPr>
          <a:xfrm>
            <a:off x="457200" y="3611880"/>
            <a:ext cx="8229600" cy="914400"/>
          </a:xfrm>
          <a:prstGeom prst="roundRect">
            <a:avLst>
              <a:gd name="adj" fmla="val 8000"/>
            </a:avLst>
          </a:prstGeom>
          <a:solidFill>
            <a:schemeClr val="bg2"/>
          </a:solidFill>
          <a:ln w="12700">
            <a:solidFill>
              <a:schemeClr val="bg2"/>
            </a:solidFill>
            <a:prstDash val="solid"/>
          </a:ln>
        </p:spPr>
        <p:txBody>
          <a:bodyPr/>
          <a:lstStyle/>
          <a:p>
            <a:endParaRPr lang="es-MX"/>
          </a:p>
        </p:txBody>
      </p:sp>
      <p:sp>
        <p:nvSpPr>
          <p:cNvPr id="9" name="Shape 6"/>
          <p:cNvSpPr/>
          <p:nvPr/>
        </p:nvSpPr>
        <p:spPr>
          <a:xfrm>
            <a:off x="621792" y="3776472"/>
            <a:ext cx="457200" cy="457200"/>
          </a:xfrm>
          <a:prstGeom prst="ellipse">
            <a:avLst/>
          </a:prstGeom>
          <a:solidFill>
            <a:schemeClr val="accent1"/>
          </a:solidFill>
          <a:ln w="12700">
            <a:solidFill>
              <a:schemeClr val="accent1"/>
            </a:solidFill>
            <a:prstDash val="solid"/>
          </a:ln>
        </p:spPr>
        <p:txBody>
          <a:bodyPr/>
          <a:lstStyle/>
          <a:p>
            <a:endParaRPr lang="es-MX"/>
          </a:p>
        </p:txBody>
      </p:sp>
      <p:pic>
        <p:nvPicPr>
          <p:cNvPr id="10" name="Image 1" descr="preencoded.png"/>
          <p:cNvPicPr>
            <a:picLocks noChangeAspect="1"/>
          </p:cNvPicPr>
          <p:nvPr/>
        </p:nvPicPr>
        <p:blipFill>
          <a:blip r:embed="rId4"/>
          <a:stretch>
            <a:fillRect/>
          </a:stretch>
        </p:blipFill>
        <p:spPr>
          <a:xfrm>
            <a:off x="722376" y="3877056"/>
            <a:ext cx="256032" cy="256032"/>
          </a:xfrm>
          <a:prstGeom prst="rect">
            <a:avLst/>
          </a:prstGeom>
        </p:spPr>
      </p:pic>
      <p:sp>
        <p:nvSpPr>
          <p:cNvPr id="11" name="Text 7"/>
          <p:cNvSpPr txBox="1"/>
          <p:nvPr/>
        </p:nvSpPr>
        <p:spPr>
          <a:xfrm>
            <a:off x="1234440" y="3685032"/>
            <a:ext cx="7269480" cy="768096"/>
          </a:xfrm>
          <a:prstGeom prst="rect">
            <a:avLst/>
          </a:prstGeom>
          <a:noFill/>
          <a:ln/>
        </p:spPr>
        <p:txBody>
          <a:bodyPr wrap="square" lIns="0" tIns="0" rIns="0" bIns="0" rtlCol="0" anchor="t"/>
          <a:lstStyle/>
          <a:p>
            <a:pPr marL="0" indent="0">
              <a:buNone/>
            </a:pPr>
            <a:r>
              <a:rPr lang="en-US" sz="1400" b="1" dirty="0">
                <a:solidFill>
                  <a:schemeClr val="tx1"/>
                </a:solidFill>
              </a:rPr>
              <a:t>Elegido solo con validación (0,61 para el modelo final)</a:t>
            </a:r>
            <a:endParaRPr lang="en-US" sz="1400" dirty="0"/>
          </a:p>
          <a:p>
            <a:pPr marL="0" indent="0">
              <a:buNone/>
            </a:pPr>
            <a:r>
              <a:rPr lang="en-US" sz="1400" dirty="0">
                <a:solidFill>
                  <a:schemeClr val="tx1"/>
                </a:solidFill>
              </a:rPr>
              <a:t>Umbral ↑ → Precision ↑ y Recall ↓. Se fija antes de evaluar en prueba.</a:t>
            </a:r>
            <a:endParaRPr lang="en-US" sz="14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B6C"/>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rPr>
              <a:t>Resultados en el conjunto de prueba</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4937760" cy="1975104"/>
        </p:xfrm>
        <a:graphic>
          <a:graphicData uri="http://schemas.openxmlformats.org/drawingml/2006/table">
            <a:tbl>
              <a:tblPr/>
              <a:tblGrid>
                <a:gridCol w="13716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329184">
                <a:tc>
                  <a:txBody>
                    <a:bodyPr/>
                    <a:lstStyle/>
                    <a:p>
                      <a:pPr marL="0" indent="0">
                        <a:buNone/>
                      </a:pPr>
                      <a:r>
                        <a:rPr lang="en-US" sz="1300" b="1" dirty="0">
                          <a:solidFill>
                            <a:srgbClr val="FFFFFF"/>
                          </a:solidFill>
                        </a:rPr>
                        <a:t>Métrica</a:t>
                      </a:r>
                      <a:endParaRPr lang="en-US" sz="1300" dirty="0"/>
                    </a:p>
                  </a:txBody>
                  <a:tcPr marL="54864" marR="54864" marT="27432" marB="2743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14213D"/>
                    </a:solidFill>
                  </a:tcPr>
                </a:tc>
                <a:tc>
                  <a:txBody>
                    <a:bodyPr/>
                    <a:lstStyle/>
                    <a:p>
                      <a:pPr marL="0" indent="0" algn="ctr">
                        <a:buNone/>
                      </a:pPr>
                      <a:r>
                        <a:rPr lang="en-US" sz="1300" b="1" dirty="0">
                          <a:solidFill>
                            <a:srgbClr val="FFFFFF"/>
                          </a:solidFill>
                        </a:rPr>
                        <a:t>Base 0,50</a:t>
                      </a:r>
                      <a:endParaRPr lang="en-US" sz="1300" dirty="0"/>
                    </a:p>
                  </a:txBody>
                  <a:tcPr marL="54864" marR="54864" marT="27432" marB="2743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14213D"/>
                    </a:solidFill>
                  </a:tcPr>
                </a:tc>
                <a:tc>
                  <a:txBody>
                    <a:bodyPr/>
                    <a:lstStyle/>
                    <a:p>
                      <a:pPr marL="0" indent="0" algn="ctr">
                        <a:buNone/>
                      </a:pPr>
                      <a:r>
                        <a:rPr lang="en-US" sz="1300" b="1" dirty="0">
                          <a:solidFill>
                            <a:srgbClr val="FFFFFF"/>
                          </a:solidFill>
                        </a:rPr>
                        <a:t>Base 0,64</a:t>
                      </a:r>
                      <a:endParaRPr lang="en-US" sz="1300" dirty="0"/>
                    </a:p>
                  </a:txBody>
                  <a:tcPr marL="54864" marR="54864" marT="27432" marB="2743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14213D"/>
                    </a:solidFill>
                  </a:tcPr>
                </a:tc>
                <a:tc>
                  <a:txBody>
                    <a:bodyPr/>
                    <a:lstStyle/>
                    <a:p>
                      <a:pPr marL="0" indent="0" algn="ctr">
                        <a:buNone/>
                      </a:pPr>
                      <a:r>
                        <a:rPr lang="en-US" sz="1300" b="1" dirty="0">
                          <a:solidFill>
                            <a:srgbClr val="FFFFFF"/>
                          </a:solidFill>
                        </a:rPr>
                        <a:t>Final 0,61</a:t>
                      </a:r>
                      <a:endParaRPr lang="en-US" sz="1300" dirty="0"/>
                    </a:p>
                  </a:txBody>
                  <a:tcPr marL="54864" marR="54864" marT="27432" marB="2743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0072B2"/>
                    </a:solidFill>
                  </a:tcPr>
                </a:tc>
                <a:extLst>
                  <a:ext uri="{0D108BD9-81ED-4DB2-BD59-A6C34878D82A}">
                    <a16:rowId xmlns:a16="http://schemas.microsoft.com/office/drawing/2014/main" val="10000"/>
                  </a:ext>
                </a:extLst>
              </a:tr>
              <a:tr h="329184">
                <a:tc>
                  <a:txBody>
                    <a:bodyPr/>
                    <a:lstStyle/>
                    <a:p>
                      <a:pPr marL="0" indent="0">
                        <a:buNone/>
                      </a:pPr>
                      <a:r>
                        <a:rPr lang="en-US" sz="1300" b="1" dirty="0">
                          <a:solidFill>
                            <a:srgbClr val="14213D"/>
                          </a:solidFill>
                        </a:rPr>
                        <a:t>Accuracy</a:t>
                      </a:r>
                      <a:endParaRPr lang="en-US" sz="1300" dirty="0"/>
                    </a:p>
                  </a:txBody>
                  <a:tcPr marL="54864" marR="54864" marT="27432" marB="2743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tcPr>
                </a:tc>
                <a:tc>
                  <a:txBody>
                    <a:bodyPr/>
                    <a:lstStyle/>
                    <a:p>
                      <a:pPr marL="0" indent="0" algn="ctr">
                        <a:buNone/>
                      </a:pPr>
                      <a:r>
                        <a:rPr lang="en-US" sz="1300" dirty="0">
                          <a:solidFill>
                            <a:srgbClr val="14213D"/>
                          </a:solidFill>
                        </a:rPr>
                        <a:t>0,829</a:t>
                      </a:r>
                      <a:endParaRPr lang="en-US" sz="1300" dirty="0"/>
                    </a:p>
                  </a:txBody>
                  <a:tcPr marL="54864" marR="54864" marT="27432" marB="2743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tcPr>
                </a:tc>
                <a:tc>
                  <a:txBody>
                    <a:bodyPr/>
                    <a:lstStyle/>
                    <a:p>
                      <a:pPr marL="0" indent="0" algn="ctr">
                        <a:buNone/>
                      </a:pPr>
                      <a:r>
                        <a:rPr lang="en-US" sz="1300" dirty="0">
                          <a:solidFill>
                            <a:srgbClr val="14213D"/>
                          </a:solidFill>
                        </a:rPr>
                        <a:t>0,873</a:t>
                      </a:r>
                      <a:endParaRPr lang="en-US" sz="1300" dirty="0"/>
                    </a:p>
                  </a:txBody>
                  <a:tcPr marL="54864" marR="54864" marT="27432" marB="2743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tcPr>
                </a:tc>
                <a:tc>
                  <a:txBody>
                    <a:bodyPr/>
                    <a:lstStyle/>
                    <a:p>
                      <a:pPr marL="0" indent="0" algn="ctr">
                        <a:buNone/>
                      </a:pPr>
                      <a:r>
                        <a:rPr lang="en-US" sz="1300" b="1" dirty="0">
                          <a:solidFill>
                            <a:srgbClr val="14213D"/>
                          </a:solidFill>
                        </a:rPr>
                        <a:t>0,869</a:t>
                      </a:r>
                      <a:endParaRPr lang="en-US" sz="1300" dirty="0"/>
                    </a:p>
                  </a:txBody>
                  <a:tcPr marL="54864" marR="54864" marT="27432" marB="2743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D6E8F5"/>
                    </a:solidFill>
                  </a:tcPr>
                </a:tc>
                <a:extLst>
                  <a:ext uri="{0D108BD9-81ED-4DB2-BD59-A6C34878D82A}">
                    <a16:rowId xmlns:a16="http://schemas.microsoft.com/office/drawing/2014/main" val="10001"/>
                  </a:ext>
                </a:extLst>
              </a:tr>
              <a:tr h="329184">
                <a:tc>
                  <a:txBody>
                    <a:bodyPr/>
                    <a:lstStyle/>
                    <a:p>
                      <a:pPr marL="0" indent="0">
                        <a:buNone/>
                      </a:pPr>
                      <a:r>
                        <a:rPr lang="en-US" sz="1300" b="1" dirty="0">
                          <a:solidFill>
                            <a:srgbClr val="14213D"/>
                          </a:solidFill>
                        </a:rPr>
                        <a:t>Precision</a:t>
                      </a:r>
                      <a:endParaRPr lang="en-US" sz="1300" dirty="0"/>
                    </a:p>
                  </a:txBody>
                  <a:tcPr marL="54864" marR="54864" marT="27432" marB="2743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tcPr>
                </a:tc>
                <a:tc>
                  <a:txBody>
                    <a:bodyPr/>
                    <a:lstStyle/>
                    <a:p>
                      <a:pPr marL="0" indent="0" algn="ctr">
                        <a:buNone/>
                      </a:pPr>
                      <a:r>
                        <a:rPr lang="en-US" sz="1300" dirty="0">
                          <a:solidFill>
                            <a:srgbClr val="14213D"/>
                          </a:solidFill>
                        </a:rPr>
                        <a:t>0,360</a:t>
                      </a:r>
                      <a:endParaRPr lang="en-US" sz="1300" dirty="0"/>
                    </a:p>
                  </a:txBody>
                  <a:tcPr marL="54864" marR="54864" marT="27432" marB="2743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tcPr>
                </a:tc>
                <a:tc>
                  <a:txBody>
                    <a:bodyPr/>
                    <a:lstStyle/>
                    <a:p>
                      <a:pPr marL="0" indent="0" algn="ctr">
                        <a:buNone/>
                      </a:pPr>
                      <a:r>
                        <a:rPr lang="en-US" sz="1300" dirty="0">
                          <a:solidFill>
                            <a:srgbClr val="14213D"/>
                          </a:solidFill>
                        </a:rPr>
                        <a:t>0,461</a:t>
                      </a:r>
                      <a:endParaRPr lang="en-US" sz="1300" dirty="0"/>
                    </a:p>
                  </a:txBody>
                  <a:tcPr marL="54864" marR="54864" marT="27432" marB="2743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tcPr>
                </a:tc>
                <a:tc>
                  <a:txBody>
                    <a:bodyPr/>
                    <a:lstStyle/>
                    <a:p>
                      <a:pPr marL="0" indent="0" algn="ctr">
                        <a:buNone/>
                      </a:pPr>
                      <a:r>
                        <a:rPr lang="en-US" sz="1300" b="1" dirty="0">
                          <a:solidFill>
                            <a:srgbClr val="14213D"/>
                          </a:solidFill>
                        </a:rPr>
                        <a:t>0,446</a:t>
                      </a:r>
                      <a:endParaRPr lang="en-US" sz="1300" dirty="0"/>
                    </a:p>
                  </a:txBody>
                  <a:tcPr marL="54864" marR="54864" marT="27432" marB="2743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D6E8F5"/>
                    </a:solidFill>
                  </a:tcPr>
                </a:tc>
                <a:extLst>
                  <a:ext uri="{0D108BD9-81ED-4DB2-BD59-A6C34878D82A}">
                    <a16:rowId xmlns:a16="http://schemas.microsoft.com/office/drawing/2014/main" val="10002"/>
                  </a:ext>
                </a:extLst>
              </a:tr>
              <a:tr h="329184">
                <a:tc>
                  <a:txBody>
                    <a:bodyPr/>
                    <a:lstStyle/>
                    <a:p>
                      <a:pPr marL="0" indent="0">
                        <a:buNone/>
                      </a:pPr>
                      <a:r>
                        <a:rPr lang="en-US" sz="1300" b="1" dirty="0">
                          <a:solidFill>
                            <a:srgbClr val="14213D"/>
                          </a:solidFill>
                        </a:rPr>
                        <a:t>Recall</a:t>
                      </a:r>
                      <a:endParaRPr lang="en-US" sz="1300" dirty="0"/>
                    </a:p>
                  </a:txBody>
                  <a:tcPr marL="54864" marR="54864" marT="27432" marB="2743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tcPr>
                </a:tc>
                <a:tc>
                  <a:txBody>
                    <a:bodyPr/>
                    <a:lstStyle/>
                    <a:p>
                      <a:pPr marL="0" indent="0" algn="ctr">
                        <a:buNone/>
                      </a:pPr>
                      <a:r>
                        <a:rPr lang="en-US" sz="1300" dirty="0">
                          <a:solidFill>
                            <a:srgbClr val="14213D"/>
                          </a:solidFill>
                        </a:rPr>
                        <a:t>0,595</a:t>
                      </a:r>
                      <a:endParaRPr lang="en-US" sz="1300" dirty="0"/>
                    </a:p>
                  </a:txBody>
                  <a:tcPr marL="54864" marR="54864" marT="27432" marB="2743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tcPr>
                </a:tc>
                <a:tc>
                  <a:txBody>
                    <a:bodyPr/>
                    <a:lstStyle/>
                    <a:p>
                      <a:pPr marL="0" indent="0" algn="ctr">
                        <a:buNone/>
                      </a:pPr>
                      <a:r>
                        <a:rPr lang="en-US" sz="1300" dirty="0">
                          <a:solidFill>
                            <a:srgbClr val="14213D"/>
                          </a:solidFill>
                        </a:rPr>
                        <a:t>0,486</a:t>
                      </a:r>
                      <a:endParaRPr lang="en-US" sz="1300" dirty="0"/>
                    </a:p>
                  </a:txBody>
                  <a:tcPr marL="54864" marR="54864" marT="27432" marB="2743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tcPr>
                </a:tc>
                <a:tc>
                  <a:txBody>
                    <a:bodyPr/>
                    <a:lstStyle/>
                    <a:p>
                      <a:pPr marL="0" indent="0" algn="ctr">
                        <a:buNone/>
                      </a:pPr>
                      <a:r>
                        <a:rPr lang="en-US" sz="1300" b="1" dirty="0">
                          <a:solidFill>
                            <a:srgbClr val="14213D"/>
                          </a:solidFill>
                        </a:rPr>
                        <a:t>0,508</a:t>
                      </a:r>
                      <a:endParaRPr lang="en-US" sz="1300" dirty="0"/>
                    </a:p>
                  </a:txBody>
                  <a:tcPr marL="54864" marR="54864" marT="27432" marB="2743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D6E8F5"/>
                    </a:solidFill>
                  </a:tcPr>
                </a:tc>
                <a:extLst>
                  <a:ext uri="{0D108BD9-81ED-4DB2-BD59-A6C34878D82A}">
                    <a16:rowId xmlns:a16="http://schemas.microsoft.com/office/drawing/2014/main" val="10003"/>
                  </a:ext>
                </a:extLst>
              </a:tr>
              <a:tr h="329184">
                <a:tc>
                  <a:txBody>
                    <a:bodyPr/>
                    <a:lstStyle/>
                    <a:p>
                      <a:pPr marL="0" indent="0">
                        <a:buNone/>
                      </a:pPr>
                      <a:r>
                        <a:rPr lang="en-US" sz="1300" b="1" dirty="0">
                          <a:solidFill>
                            <a:srgbClr val="14213D"/>
                          </a:solidFill>
                        </a:rPr>
                        <a:t>F1</a:t>
                      </a:r>
                      <a:endParaRPr lang="en-US" sz="1300" dirty="0"/>
                    </a:p>
                  </a:txBody>
                  <a:tcPr marL="54864" marR="54864" marT="27432" marB="2743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tcPr>
                </a:tc>
                <a:tc>
                  <a:txBody>
                    <a:bodyPr/>
                    <a:lstStyle/>
                    <a:p>
                      <a:pPr marL="0" indent="0" algn="ctr">
                        <a:buNone/>
                      </a:pPr>
                      <a:r>
                        <a:rPr lang="en-US" sz="1300" dirty="0">
                          <a:solidFill>
                            <a:srgbClr val="14213D"/>
                          </a:solidFill>
                        </a:rPr>
                        <a:t>0,449</a:t>
                      </a:r>
                      <a:endParaRPr lang="en-US" sz="1300" dirty="0"/>
                    </a:p>
                  </a:txBody>
                  <a:tcPr marL="54864" marR="54864" marT="27432" marB="2743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tcPr>
                </a:tc>
                <a:tc>
                  <a:txBody>
                    <a:bodyPr/>
                    <a:lstStyle/>
                    <a:p>
                      <a:pPr marL="0" indent="0" algn="ctr">
                        <a:buNone/>
                      </a:pPr>
                      <a:r>
                        <a:rPr lang="en-US" sz="1300" dirty="0">
                          <a:solidFill>
                            <a:srgbClr val="14213D"/>
                          </a:solidFill>
                        </a:rPr>
                        <a:t>0,473</a:t>
                      </a:r>
                      <a:endParaRPr lang="en-US" sz="1300" dirty="0"/>
                    </a:p>
                  </a:txBody>
                  <a:tcPr marL="54864" marR="54864" marT="27432" marB="2743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tcPr>
                </a:tc>
                <a:tc>
                  <a:txBody>
                    <a:bodyPr/>
                    <a:lstStyle/>
                    <a:p>
                      <a:pPr marL="0" indent="0" algn="ctr">
                        <a:buNone/>
                      </a:pPr>
                      <a:r>
                        <a:rPr lang="en-US" sz="1300" b="1" dirty="0">
                          <a:solidFill>
                            <a:srgbClr val="14213D"/>
                          </a:solidFill>
                        </a:rPr>
                        <a:t>0,475</a:t>
                      </a:r>
                      <a:endParaRPr lang="en-US" sz="1300" dirty="0"/>
                    </a:p>
                  </a:txBody>
                  <a:tcPr marL="54864" marR="54864" marT="27432" marB="2743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D6E8F5"/>
                    </a:solidFill>
                  </a:tcPr>
                </a:tc>
                <a:extLst>
                  <a:ext uri="{0D108BD9-81ED-4DB2-BD59-A6C34878D82A}">
                    <a16:rowId xmlns:a16="http://schemas.microsoft.com/office/drawing/2014/main" val="10004"/>
                  </a:ext>
                </a:extLst>
              </a:tr>
              <a:tr h="329184">
                <a:tc>
                  <a:txBody>
                    <a:bodyPr/>
                    <a:lstStyle/>
                    <a:p>
                      <a:pPr marL="0" indent="0">
                        <a:buNone/>
                      </a:pPr>
                      <a:r>
                        <a:rPr lang="en-US" sz="1300" b="1" dirty="0">
                          <a:solidFill>
                            <a:srgbClr val="14213D"/>
                          </a:solidFill>
                        </a:rPr>
                        <a:t>ROC-AUC</a:t>
                      </a:r>
                      <a:endParaRPr lang="en-US" sz="1300" dirty="0"/>
                    </a:p>
                  </a:txBody>
                  <a:tcPr marL="54864" marR="54864" marT="27432" marB="2743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tcPr>
                </a:tc>
                <a:tc>
                  <a:txBody>
                    <a:bodyPr/>
                    <a:lstStyle/>
                    <a:p>
                      <a:pPr marL="0" indent="0" algn="ctr">
                        <a:buNone/>
                      </a:pPr>
                      <a:r>
                        <a:rPr lang="en-US" sz="1300" dirty="0">
                          <a:solidFill>
                            <a:srgbClr val="14213D"/>
                          </a:solidFill>
                        </a:rPr>
                        <a:t>0,779</a:t>
                      </a:r>
                      <a:endParaRPr lang="en-US" sz="1300" dirty="0"/>
                    </a:p>
                  </a:txBody>
                  <a:tcPr marL="54864" marR="54864" marT="27432" marB="2743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tcPr>
                </a:tc>
                <a:tc>
                  <a:txBody>
                    <a:bodyPr/>
                    <a:lstStyle/>
                    <a:p>
                      <a:pPr marL="0" indent="0" algn="ctr">
                        <a:buNone/>
                      </a:pPr>
                      <a:r>
                        <a:rPr lang="en-US" sz="1300" dirty="0">
                          <a:solidFill>
                            <a:srgbClr val="14213D"/>
                          </a:solidFill>
                        </a:rPr>
                        <a:t>0,779</a:t>
                      </a:r>
                      <a:endParaRPr lang="en-US" sz="1300" dirty="0"/>
                    </a:p>
                  </a:txBody>
                  <a:tcPr marL="54864" marR="54864" marT="27432" marB="2743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tcPr>
                </a:tc>
                <a:tc>
                  <a:txBody>
                    <a:bodyPr/>
                    <a:lstStyle/>
                    <a:p>
                      <a:pPr marL="0" indent="0" algn="ctr">
                        <a:buNone/>
                      </a:pPr>
                      <a:r>
                        <a:rPr lang="en-US" sz="1300" b="1" dirty="0">
                          <a:solidFill>
                            <a:srgbClr val="14213D"/>
                          </a:solidFill>
                        </a:rPr>
                        <a:t>0,789</a:t>
                      </a:r>
                      <a:endParaRPr lang="en-US" sz="1300" dirty="0"/>
                    </a:p>
                  </a:txBody>
                  <a:tcPr marL="54864" marR="54864" marT="27432" marB="27432" anchor="ctr">
                    <a:lnL w="6350" cap="flat" cmpd="sng" algn="ctr">
                      <a:solidFill>
                        <a:srgbClr val="D5DEE6"/>
                      </a:solidFill>
                      <a:prstDash val="solid"/>
                      <a:round/>
                      <a:headEnd type="none" w="med" len="med"/>
                      <a:tailEnd type="none" w="med" len="med"/>
                    </a:lnL>
                    <a:lnR w="6350" cap="flat" cmpd="sng" algn="ctr">
                      <a:solidFill>
                        <a:srgbClr val="D5DEE6"/>
                      </a:solidFill>
                      <a:prstDash val="solid"/>
                      <a:round/>
                      <a:headEnd type="none" w="med" len="med"/>
                      <a:tailEnd type="none" w="med" len="med"/>
                    </a:lnR>
                    <a:lnT w="6350" cap="flat" cmpd="sng" algn="ctr">
                      <a:solidFill>
                        <a:srgbClr val="D5DEE6"/>
                      </a:solidFill>
                      <a:prstDash val="solid"/>
                      <a:round/>
                      <a:headEnd type="none" w="med" len="med"/>
                      <a:tailEnd type="none" w="med" len="med"/>
                    </a:lnT>
                    <a:lnB w="6350" cap="flat" cmpd="sng" algn="ctr">
                      <a:solidFill>
                        <a:srgbClr val="D5DEE6"/>
                      </a:solidFill>
                      <a:prstDash val="solid"/>
                      <a:round/>
                      <a:headEnd type="none" w="med" len="med"/>
                      <a:tailEnd type="none" w="med" len="med"/>
                    </a:lnB>
                    <a:solidFill>
                      <a:srgbClr val="D6E8F5"/>
                    </a:solidFill>
                  </a:tcPr>
                </a:tc>
                <a:extLst>
                  <a:ext uri="{0D108BD9-81ED-4DB2-BD59-A6C34878D82A}">
                    <a16:rowId xmlns:a16="http://schemas.microsoft.com/office/drawing/2014/main" val="10005"/>
                  </a:ext>
                </a:extLst>
              </a:tr>
            </a:tbl>
          </a:graphicData>
        </a:graphic>
      </p:graphicFrame>
      <p:sp>
        <p:nvSpPr>
          <p:cNvPr id="4" name="Text 1"/>
          <p:cNvSpPr txBox="1"/>
          <p:nvPr/>
        </p:nvSpPr>
        <p:spPr>
          <a:xfrm>
            <a:off x="457200" y="3337560"/>
            <a:ext cx="4937760" cy="1280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De 100 llamadas, ≈ 45 contratan (3,8 × la tasa base).</a:t>
            </a:r>
            <a:endParaRPr lang="en-US" sz="1400" dirty="0"/>
          </a:p>
          <a:p>
            <a:pPr marL="342900" indent="-342900">
              <a:buSzPct val="100000"/>
              <a:buChar char="•"/>
            </a:pPr>
            <a:r>
              <a:rPr lang="en-US" sz="1400" dirty="0">
                <a:solidFill>
                  <a:schemeClr val="tx1"/>
                </a:solidFill>
              </a:rPr>
              <a:t>Accuracy 0,869 &lt; 0,883 del «siempre no»: no es el criterio.</a:t>
            </a:r>
            <a:endParaRPr lang="en-US" sz="1400" dirty="0"/>
          </a:p>
        </p:txBody>
      </p:sp>
      <p:pic>
        <p:nvPicPr>
          <p:cNvPr id="5" name="Image 0" descr="Matriz de confusión del modelo final en prueba"/>
          <p:cNvPicPr>
            <a:picLocks noChangeAspect="1"/>
          </p:cNvPicPr>
          <p:nvPr/>
        </p:nvPicPr>
        <p:blipFill>
          <a:blip r:embed="rId3"/>
          <a:stretch>
            <a:fillRect/>
          </a:stretch>
        </p:blipFill>
        <p:spPr>
          <a:xfrm>
            <a:off x="5669280" y="1097280"/>
            <a:ext cx="3017520" cy="2486436"/>
          </a:xfrm>
          <a:prstGeom prst="rect">
            <a:avLst/>
          </a:prstGeom>
        </p:spPr>
      </p:pic>
      <p:sp>
        <p:nvSpPr>
          <p:cNvPr id="6" name="Text 2"/>
          <p:cNvSpPr txBox="1"/>
          <p:nvPr/>
        </p:nvSpPr>
        <p:spPr>
          <a:xfrm>
            <a:off x="5669280" y="3794760"/>
            <a:ext cx="3017520" cy="274320"/>
          </a:xfrm>
          <a:prstGeom prst="rect">
            <a:avLst/>
          </a:prstGeom>
          <a:noFill/>
          <a:ln/>
        </p:spPr>
        <p:txBody>
          <a:bodyPr wrap="square" lIns="0" tIns="0" rIns="0" bIns="0" rtlCol="0" anchor="ctr"/>
          <a:lstStyle/>
          <a:p>
            <a:pPr marL="0" indent="0">
              <a:buNone/>
            </a:pPr>
            <a:r>
              <a:rPr lang="en-US" sz="1200" dirty="0">
                <a:solidFill>
                  <a:schemeClr val="tx2"/>
                </a:solidFill>
              </a:rPr>
              <a:t>Matriz de confusión · final, umbral 0,61</a:t>
            </a:r>
            <a:endParaRPr lang="en-US" sz="12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B6C"/>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2800" b="1" dirty="0">
                <a:solidFill>
                  <a:schemeClr val="bg1"/>
                </a:solidFill>
              </a:rPr>
              <a:t>Conclusiones y mejoras</a:t>
            </a:r>
            <a:endParaRPr lang="en-US" sz="2800" dirty="0"/>
          </a:p>
        </p:txBody>
      </p:sp>
      <p:sp>
        <p:nvSpPr>
          <p:cNvPr id="3" name="Text 1"/>
          <p:cNvSpPr txBox="1"/>
          <p:nvPr/>
        </p:nvSpPr>
        <p:spPr>
          <a:xfrm>
            <a:off x="457200" y="1097280"/>
            <a:ext cx="4023360" cy="365760"/>
          </a:xfrm>
          <a:prstGeom prst="rect">
            <a:avLst/>
          </a:prstGeom>
          <a:noFill/>
          <a:ln/>
        </p:spPr>
        <p:txBody>
          <a:bodyPr wrap="square" lIns="0" tIns="0" rIns="0" bIns="0" rtlCol="0" anchor="ctr"/>
          <a:lstStyle/>
          <a:p>
            <a:pPr marL="0" indent="0">
              <a:buNone/>
            </a:pPr>
            <a:r>
              <a:rPr lang="en-US" sz="1800" b="1" dirty="0">
                <a:solidFill>
                  <a:schemeClr val="accent2"/>
                </a:solidFill>
              </a:rPr>
              <a:t>Conclusiones</a:t>
            </a:r>
            <a:endParaRPr lang="en-US" sz="1800" dirty="0"/>
          </a:p>
        </p:txBody>
      </p:sp>
      <p:sp>
        <p:nvSpPr>
          <p:cNvPr id="4" name="Text 2"/>
          <p:cNvSpPr txBox="1"/>
          <p:nvPr/>
        </p:nvSpPr>
        <p:spPr>
          <a:xfrm>
            <a:off x="457200" y="1554480"/>
            <a:ext cx="4023360" cy="23774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bg1"/>
                </a:solidFill>
              </a:rPr>
              <a:t>ReLU + BCE + tasa 0,001: mejores decisiones.</a:t>
            </a:r>
            <a:endParaRPr lang="en-US" sz="1600" dirty="0"/>
          </a:p>
          <a:p>
            <a:pPr marL="342900" indent="-342900">
              <a:spcAft>
                <a:spcPts val="1000"/>
              </a:spcAft>
              <a:buSzPct val="100000"/>
              <a:buChar char="•"/>
            </a:pPr>
            <a:r>
              <a:rPr lang="en-US" sz="1600" dirty="0">
                <a:solidFill>
                  <a:schemeClr val="bg1"/>
                </a:solidFill>
              </a:rPr>
              <a:t>La regularización no aportó: el base no sobreajusta.</a:t>
            </a:r>
            <a:endParaRPr lang="en-US" sz="1600" dirty="0"/>
          </a:p>
          <a:p>
            <a:pPr marL="342900" indent="-342900">
              <a:buSzPct val="100000"/>
              <a:buChar char="•"/>
            </a:pPr>
            <a:r>
              <a:rPr lang="en-US" sz="1600" dirty="0">
                <a:solidFill>
                  <a:schemeClr val="bg1"/>
                </a:solidFill>
              </a:rPr>
              <a:t>El umbral fue la palanca más efectiva.</a:t>
            </a:r>
            <a:endParaRPr lang="en-US" sz="1600" dirty="0"/>
          </a:p>
        </p:txBody>
      </p:sp>
      <p:sp>
        <p:nvSpPr>
          <p:cNvPr id="5" name="Text 3"/>
          <p:cNvSpPr txBox="1"/>
          <p:nvPr/>
        </p:nvSpPr>
        <p:spPr>
          <a:xfrm>
            <a:off x="4754880" y="1097280"/>
            <a:ext cx="3931920" cy="365760"/>
          </a:xfrm>
          <a:prstGeom prst="rect">
            <a:avLst/>
          </a:prstGeom>
          <a:noFill/>
          <a:ln/>
        </p:spPr>
        <p:txBody>
          <a:bodyPr wrap="square" lIns="0" tIns="0" rIns="0" bIns="0" rtlCol="0" anchor="ctr"/>
          <a:lstStyle/>
          <a:p>
            <a:pPr marL="0" indent="0">
              <a:buNone/>
            </a:pPr>
            <a:r>
              <a:rPr lang="en-US" sz="1800" b="1" dirty="0">
                <a:solidFill>
                  <a:schemeClr val="accent2"/>
                </a:solidFill>
              </a:rPr>
              <a:t>Mejoras propuestas</a:t>
            </a:r>
            <a:endParaRPr lang="en-US" sz="1800" dirty="0"/>
          </a:p>
        </p:txBody>
      </p:sp>
      <p:sp>
        <p:nvSpPr>
          <p:cNvPr id="6" name="Text 4"/>
          <p:cNvSpPr txBox="1"/>
          <p:nvPr/>
        </p:nvSpPr>
        <p:spPr>
          <a:xfrm>
            <a:off x="4754880" y="1554480"/>
            <a:ext cx="3931920" cy="23774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bg1"/>
                </a:solidFill>
              </a:rPr>
              <a:t>Nuevas variables (p. ej. contacto previo).</a:t>
            </a:r>
            <a:endParaRPr lang="en-US" sz="1600" dirty="0"/>
          </a:p>
          <a:p>
            <a:pPr marL="342900" indent="-342900">
              <a:spcAft>
                <a:spcPts val="1000"/>
              </a:spcAft>
              <a:buSzPct val="100000"/>
              <a:buChar char="•"/>
            </a:pPr>
            <a:r>
              <a:rPr lang="en-US" sz="1600" dirty="0">
                <a:solidFill>
                  <a:schemeClr val="bg1"/>
                </a:solidFill>
              </a:rPr>
              <a:t>Focal loss o SMOTE.</a:t>
            </a:r>
            <a:endParaRPr lang="en-US" sz="1600" dirty="0"/>
          </a:p>
          <a:p>
            <a:pPr marL="342900" indent="-342900">
              <a:buSzPct val="100000"/>
              <a:buChar char="•"/>
            </a:pPr>
            <a:r>
              <a:rPr lang="en-US" sz="1600" dirty="0">
                <a:solidFill>
                  <a:schemeClr val="bg1"/>
                </a:solidFill>
              </a:rPr>
              <a:t>Validación cruzada.</a:t>
            </a:r>
            <a:endParaRPr lang="en-US" sz="16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EEF3F7"/>
                </a:solidFill>
              </a:defRPr>
            </a:lvl1pPr>
          </a:lstStyle>
          <a:p>
            <a:pPr algn="l"/>
            <a:fld id="{F7021451-1387-4CA6-816F-3879F97B5CBC}" type="slidenum">
              <a:rPr lang="en-US" b="0"/>
              <a:t>10</a:t>
            </a:fld>
            <a:endParaRPr lang="en-US"/>
          </a:p>
        </p:txBody>
      </p:sp>
    </p:spTree>
  </p:cSld>
  <p:clrMapOvr>
    <a:masterClrMapping/>
  </p:clrMapOvr>
</p:sld>
</file>

<file path=ppt/theme/theme1.xml><?xml version="1.0" encoding="utf-8"?>
<a:theme xmlns:a="http://schemas.openxmlformats.org/drawingml/2006/main" name="Bank MLP">
  <a:themeElements>
    <a:clrScheme name="Bank MLP">
      <a:dk1>
        <a:srgbClr val="14213D"/>
      </a:dk1>
      <a:lt1>
        <a:srgbClr val="FFFFFF"/>
      </a:lt1>
      <a:dk2>
        <a:srgbClr val="4A5B6C"/>
      </a:dk2>
      <a:lt2>
        <a:srgbClr val="EEF3F7"/>
      </a:lt2>
      <a:accent1>
        <a:srgbClr val="0072B2"/>
      </a:accent1>
      <a:accent2>
        <a:srgbClr val="E69F00"/>
      </a:accent2>
      <a:accent3>
        <a:srgbClr val="009E73"/>
      </a:accent3>
      <a:accent4>
        <a:srgbClr val="D55E00"/>
      </a:accent4>
      <a:accent5>
        <a:srgbClr val="CC79A7"/>
      </a:accent5>
      <a:accent6>
        <a:srgbClr val="56B4E9"/>
      </a:accent6>
      <a:hlink>
        <a:srgbClr val="0072B2"/>
      </a:hlink>
      <a:folHlink>
        <a:srgbClr val="4A5B6C"/>
      </a:folHlink>
    </a:clrScheme>
    <a:fontScheme name="Bank MLP">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TotalTime>
  <Words>1299</Words>
  <Application>Microsoft Office PowerPoint</Application>
  <PresentationFormat>On-screen Show (16:9)</PresentationFormat>
  <Paragraphs>150</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Bank MLP</vt:lpstr>
      <vt:lpstr>Clasificación de clientes con una red neuronal MLP</vt:lpstr>
      <vt:lpstr>Datos y preprocesamiento</vt:lpstr>
      <vt:lpstr>Modelo y funciones</vt:lpstr>
      <vt:lpstr>Activación y pérdida</vt:lpstr>
      <vt:lpstr>Tasa, batch, épocas y capas</vt:lpstr>
      <vt:lpstr>Regularización</vt:lpstr>
      <vt:lpstr>Ajuste conjunto de hiperparámetros</vt:lpstr>
      <vt:lpstr>Umbral de decisión</vt:lpstr>
      <vt:lpstr>Resultados en el conjunto de prueba</vt:lpstr>
      <vt:lpstr>Conclusiones y mejoras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Clasificación de clientes con un MLP — Bank Marketing</dc:title>
  <dc:subject>PptxGenJS Presentation</dc:subject>
  <dc:creator>Tomás Benjamín Suárez Alvarado</dc:creator>
  <cp:lastModifiedBy>tomas suarez</cp:lastModifiedBy>
  <cp:revision>2</cp:revision>
  <dcterms:created xsi:type="dcterms:W3CDTF">2026-10-10T18:07:03Z</dcterms:created>
  <dcterms:modified xsi:type="dcterms:W3CDTF">2026-10-10T18:59:03Z</dcterms:modified>
</cp:coreProperties>
</file>